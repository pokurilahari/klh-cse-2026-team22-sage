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6"/>
  </p:notesMasterIdLst>
  <p:sldIdLst>
    <p:sldId id="262" r:id="rId3"/>
    <p:sldId id="707" r:id="rId4"/>
    <p:sldId id="257" r:id="rId5"/>
    <p:sldId id="903" r:id="rId6"/>
    <p:sldId id="902" r:id="rId7"/>
    <p:sldId id="258" r:id="rId8"/>
    <p:sldId id="259" r:id="rId9"/>
    <p:sldId id="260" r:id="rId10"/>
    <p:sldId id="904" r:id="rId11"/>
    <p:sldId id="905" r:id="rId12"/>
    <p:sldId id="906" r:id="rId13"/>
    <p:sldId id="907" r:id="rId14"/>
    <p:sldId id="908" r:id="rId15"/>
    <p:sldId id="909" r:id="rId16"/>
    <p:sldId id="910" r:id="rId17"/>
    <p:sldId id="911" r:id="rId18"/>
    <p:sldId id="912" r:id="rId19"/>
    <p:sldId id="913" r:id="rId20"/>
    <p:sldId id="914" r:id="rId21"/>
    <p:sldId id="915" r:id="rId22"/>
    <p:sldId id="916" r:id="rId23"/>
    <p:sldId id="917" r:id="rId24"/>
    <p:sldId id="91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94660"/>
  </p:normalViewPr>
  <p:slideViewPr>
    <p:cSldViewPr snapToGrid="0">
      <p:cViewPr varScale="1">
        <p:scale>
          <a:sx n="83" d="100"/>
          <a:sy n="83" d="100"/>
        </p:scale>
        <p:origin x="6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2" qsCatId="3D" csTypeId="urn:microsoft.com/office/officeart/2005/8/colors/colorful1#2"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2">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22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22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22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22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22 September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22 September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22 September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22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22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22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22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22 September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Date&amp; Time</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4236571943"/>
              </p:ext>
            </p:extLst>
          </p:nvPr>
        </p:nvGraphicFramePr>
        <p:xfrm>
          <a:off x="8193271" y="4898509"/>
          <a:ext cx="3702050" cy="79248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Name</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Roll Number</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1947167561"/>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Dr.XXXXXX</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XXXXXX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523220"/>
          </a:xfrm>
          <a:prstGeom prst="rect">
            <a:avLst/>
          </a:prstGeom>
          <a:noFill/>
        </p:spPr>
        <p:txBody>
          <a:bodyPr wrap="square">
            <a:spAutoFit/>
          </a:bodyPr>
          <a:lstStyle/>
          <a:p>
            <a:pPr lvl="0" algn="ctr">
              <a:defRPr/>
            </a:pPr>
            <a:r>
              <a:rPr lang="en-IN" sz="2800" b="1" dirty="0">
                <a:solidFill>
                  <a:schemeClr val="bg1"/>
                </a:solidFill>
                <a:latin typeface="Times New Roman" panose="02020603050405020304" pitchFamily="18" charset="0"/>
                <a:cs typeface="Times New Roman" panose="02020603050405020304" pitchFamily="18" charset="0"/>
              </a:rPr>
              <a:t>SAGE: Student Academic for Growth and Education</a:t>
            </a: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p:cNvSpPr txBox="1"/>
          <p:nvPr/>
        </p:nvSpPr>
        <p:spPr>
          <a:xfrm>
            <a:off x="900000" y="1500000"/>
            <a:ext cx="10400000" cy="4500000"/>
          </a:xfrm>
          <a:prstGeom prst="rect">
            <a:avLst/>
          </a:prstGeom>
          <a:noFill/>
        </p:spPr>
        <p:txBody>
          <a:bodyPr wrap="square">
            <a:spAutoFit/>
          </a:bodyPr>
          <a:lstStyle/>
          <a:p>
            <a:pPr>
              <a:spcAft>
                <a:spcPts val="1600"/>
              </a:spcAft>
            </a:pPr>
            <a:r>
              <a:rPr sz="2000">
                <a:solidFill>
                  <a:srgbClr val="202020"/>
                </a:solidFill>
                <a:latin typeface="Times New Roman"/>
              </a:rPr>
              <a:t>•  Students juggle deadlines across multiple courses, projects, and exams with no single view of what actually matters right now.</a:t>
            </a:r>
          </a:p>
          <a:p>
            <a:pPr>
              <a:spcAft>
                <a:spcPts val="1600"/>
              </a:spcAft>
            </a:pPr>
            <a:r>
              <a:rPr sz="2000">
                <a:solidFill>
                  <a:srgbClr val="202020"/>
                </a:solidFill>
                <a:latin typeface="Times New Roman"/>
              </a:rPr>
              <a:t>•  Traditional calendar and to-do apps only display dates — they do not reason about grade weight, urgency, or career relevance.</a:t>
            </a:r>
          </a:p>
          <a:p>
            <a:pPr>
              <a:spcAft>
                <a:spcPts val="1600"/>
              </a:spcAft>
            </a:pPr>
            <a:r>
              <a:rPr sz="2000">
                <a:solidFill>
                  <a:srgbClr val="202020"/>
                </a:solidFill>
                <a:latin typeface="Times New Roman"/>
              </a:rPr>
              <a:t>•  Commercial AI planning assistants (ChatGPT Plus, Claude Pro, etc.) require paid subscriptions, putting them out of reach for most students.</a:t>
            </a:r>
          </a:p>
          <a:p>
            <a:pPr>
              <a:spcAft>
                <a:spcPts val="1600"/>
              </a:spcAft>
            </a:pPr>
            <a:r>
              <a:rPr sz="2000">
                <a:solidFill>
                  <a:srgbClr val="202020"/>
                </a:solidFill>
                <a:latin typeface="Times New Roman"/>
              </a:rPr>
              <a:t>•  There is no lightweight, free, event-driven system that automatically turns a student's calendar and goals into a prioritized daily action plan.</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p:cNvSpPr txBox="1"/>
          <p:nvPr/>
        </p:nvSpPr>
        <p:spPr>
          <a:xfrm>
            <a:off x="900000" y="1500000"/>
            <a:ext cx="10400000" cy="4800000"/>
          </a:xfrm>
          <a:prstGeom prst="rect">
            <a:avLst/>
          </a:prstGeom>
          <a:noFill/>
        </p:spPr>
        <p:txBody>
          <a:bodyPr wrap="square">
            <a:spAutoFit/>
          </a:bodyPr>
          <a:lstStyle/>
          <a:p>
            <a:pPr>
              <a:spcAft>
                <a:spcPts val="1200"/>
              </a:spcAft>
            </a:pPr>
            <a:r>
              <a:rPr sz="1800">
                <a:solidFill>
                  <a:srgbClr val="202020"/>
                </a:solidFill>
                <a:latin typeface="Times New Roman"/>
              </a:rPr>
              <a:t>•  Design and implement a Service-Oriented Architecture using Spring Boot and Spring Cloud (Eureka, Config Server, API Gateway) to demonstrate real-world microservices patterns.</a:t>
            </a:r>
          </a:p>
          <a:p>
            <a:pPr>
              <a:spcAft>
                <a:spcPts val="1200"/>
              </a:spcAft>
            </a:pPr>
            <a:r>
              <a:rPr sz="1800">
                <a:solidFill>
                  <a:srgbClr val="202020"/>
                </a:solidFill>
                <a:latin typeface="Times New Roman"/>
              </a:rPr>
              <a:t>•  Integrate the Google Calendar API as a live data source and automatically detect approaching academic deadlines.</a:t>
            </a:r>
          </a:p>
          <a:p>
            <a:pPr>
              <a:spcAft>
                <a:spcPts val="1200"/>
              </a:spcAft>
            </a:pPr>
            <a:r>
              <a:rPr sz="1800">
                <a:solidFill>
                  <a:srgbClr val="202020"/>
                </a:solidFill>
                <a:latin typeface="Times New Roman"/>
              </a:rPr>
              <a:t>•  Build an LLM-based reasoning service (SAGE Brain) that generates a prioritized, context-aware daily digest using the student's profile and career goals.</a:t>
            </a:r>
          </a:p>
          <a:p>
            <a:pPr>
              <a:spcAft>
                <a:spcPts val="1200"/>
              </a:spcAft>
            </a:pPr>
            <a:r>
              <a:rPr sz="1800">
                <a:solidFill>
                  <a:srgbClr val="202020"/>
                </a:solidFill>
                <a:latin typeface="Times New Roman"/>
              </a:rPr>
              <a:t>•  Implement asynchronous, event-driven communication between services using Apache Kafka.</a:t>
            </a:r>
          </a:p>
          <a:p>
            <a:pPr>
              <a:spcAft>
                <a:spcPts val="1200"/>
              </a:spcAft>
            </a:pPr>
            <a:r>
              <a:rPr sz="1800">
                <a:solidFill>
                  <a:srgbClr val="202020"/>
                </a:solidFill>
                <a:latin typeface="Times New Roman"/>
              </a:rPr>
              <a:t>•  Ensure system resilience with Resilience4j circuit breakers and a zero-cost local LLM fallback (Ollama).</a:t>
            </a:r>
          </a:p>
          <a:p>
            <a:pPr>
              <a:spcAft>
                <a:spcPts val="1200"/>
              </a:spcAft>
            </a:pPr>
            <a:r>
              <a:rPr sz="1800">
                <a:solidFill>
                  <a:srgbClr val="202020"/>
                </a:solidFill>
                <a:latin typeface="Times New Roman"/>
              </a:rPr>
              <a:t>•  Deliver the entire system using only free-tier and open-source tools, with full observability via Prometheus, Grafana, and Zipkin.</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2344012633"/>
              </p:ext>
            </p:extLst>
          </p:nvPr>
        </p:nvGraphicFramePr>
        <p:xfrm>
          <a:off x="274646" y="689466"/>
          <a:ext cx="11642705" cy="5108797"/>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IN" sz="1400" b="0" i="0" u="none" kern="1200" dirty="0">
                          <a:solidFill>
                            <a:srgbClr val="202020"/>
                          </a:solidFill>
                          <a:effectLst/>
                          <a:latin typeface="Times New Roman" panose="02020603050405020304" pitchFamily="18" charset="0"/>
                          <a:ea typeface="+mn-ea"/>
                          <a:cs typeface="Times New Roman" panose="02020603050405020304" pitchFamily="18" charset="0"/>
                        </a:rPr>
                        <a:t>Dragoni et al. [1]</a:t>
                      </a:r>
                    </a:p>
                  </a:txBody>
                  <a:tcPr/>
                </a:tc>
                <a:tc>
                  <a:txBody>
                    <a:bodyPr/>
                    <a:lstStyle/>
                    <a:p>
                      <a:r>
                        <a:rPr lang="en-IN" sz="1400" b="0" i="0" u="none" strike="noStrike" kern="1200" dirty="0">
                          <a:solidFill>
                            <a:srgbClr val="202020"/>
                          </a:solidFill>
                          <a:effectLst/>
                          <a:latin typeface="Times New Roman" panose="02020603050405020304" pitchFamily="18" charset="0"/>
                          <a:ea typeface="+mn-ea"/>
                          <a:cs typeface="Times New Roman" panose="02020603050405020304" pitchFamily="18" charset="0"/>
                        </a:rPr>
                        <a:t>Microservices: Yesterday, Today, and Tomorrow, Springer, 2017</a:t>
                      </a: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pPr>
                      <a:r>
                        <a:rPr lang="en-IN" sz="1400" b="0" i="0" kern="1200" dirty="0">
                          <a:solidFill>
                            <a:srgbClr val="202020"/>
                          </a:solidFill>
                          <a:effectLst/>
                          <a:latin typeface="Times New Roman" panose="02020603050405020304" pitchFamily="18" charset="0"/>
                          <a:ea typeface="+mn-ea"/>
                          <a:cs typeface="Times New Roman" panose="02020603050405020304" pitchFamily="18" charset="0"/>
                        </a:rPr>
                        <a:t>Literature review and architectural analysis of the evolution from SOA to microservices</a:t>
                      </a: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pPr>
                      <a:r>
                        <a:rPr lang="en-IN" sz="1400" b="0" i="0" kern="1200" dirty="0">
                          <a:solidFill>
                            <a:srgbClr val="202020"/>
                          </a:solidFill>
                          <a:effectLst/>
                          <a:latin typeface="Times New Roman" panose="02020603050405020304" pitchFamily="18" charset="0"/>
                          <a:ea typeface="+mn-ea"/>
                          <a:cs typeface="Times New Roman" panose="02020603050405020304" pitchFamily="18" charset="0"/>
                        </a:rPr>
                        <a:t>Establishes microservices as an architectural style inspired by service-oriented computing; identifies core traits: independent deployability, per-service data ownership, and decentralized governance</a:t>
                      </a:r>
                    </a:p>
                  </a:txBody>
                  <a:tcPr/>
                </a:tc>
                <a:tc>
                  <a:txBody>
                    <a:bodyPr/>
                    <a:lstStyle/>
                    <a:p>
                      <a:pPr marL="285750" indent="-285750" algn="l" defTabSz="914400" rtl="0" eaLnBrk="1" latinLnBrk="0" hangingPunct="1">
                        <a:buFont typeface="Arial" panose="020B0604020202020204" pitchFamily="34" charset="0"/>
                      </a:pPr>
                      <a:r>
                        <a:rPr lang="en-IN" sz="1400" b="0" i="0" u="none" kern="1200" dirty="0">
                          <a:solidFill>
                            <a:srgbClr val="202020"/>
                          </a:solidFill>
                          <a:effectLst/>
                          <a:latin typeface="Times New Roman" panose="02020603050405020304" pitchFamily="18" charset="0"/>
                          <a:ea typeface="+mn-ea"/>
                          <a:cs typeface="Times New Roman" panose="02020603050405020304" pitchFamily="18" charset="0"/>
                          <a:sym typeface="Arial"/>
                        </a:rPr>
                        <a:t>Primarily conceptual; does not evaluate a working implementation or provide empirical performance benchmarks</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sz="1100">
                          <a:latin typeface="Times New Roman"/>
                        </a:rPr>
                        <a:t>Harshitha et al. [2]</a:t>
                      </a:r>
                      <a:endParaRPr lang="en-IN" sz="1400" b="0"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sz="1100">
                          <a:latin typeface="Times New Roman"/>
                        </a:rPr>
                        <a:t>Architecting Event-Driven Microservices: Unlocking Asynchronous Communication with Kafka and RabbitMQ, 2025</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pPr>
                      <a:r>
                        <a:rPr sz="1100">
                          <a:latin typeface="Times New Roman"/>
                        </a:rPr>
                        <a:t>Comparative survey of Apache Kafka and RabbitMQ for asynchronous inter-service communication in microservice systems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pPr>
                      <a:r>
                        <a:rPr sz="1100">
                          <a:latin typeface="Times New Roman"/>
                        </a:rPr>
                        <a:t>Kafka provides high-throughput, distributed event streaming well suited to real-time, loosely coupled service communication such as deadline and digest events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pPr>
                      <a:r>
                        <a:rPr sz="1100">
                          <a:latin typeface="Times New Roman"/>
                        </a:rPr>
                        <a:t>Does not address service decomposition granularity or LLM-driven consumers of the event stream</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sz="1100">
                          <a:latin typeface="Times New Roman"/>
                        </a:rPr>
                        <a:t>Sundrababu et al. [3]</a:t>
                      </a:r>
                      <a:endParaRPr lang="en-IN" sz="14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sz="1100">
                          <a:latin typeface="Times New Roman"/>
                        </a:rPr>
                        <a:t>Student Learning Assistant Based on Adaptive LLM, IJERT, 2026</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pPr>
                      <a:r>
                        <a:rPr sz="1100">
                          <a:latin typeface="Times New Roman"/>
                        </a:rPr>
                        <a:t>Web-based adaptive LLM assistant offering individualized academic support and auto-generated assessments from syllabus content</a:t>
                      </a: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pPr>
                      <a:r>
                        <a:rPr sz="1100">
                          <a:latin typeface="Times New Roman"/>
                        </a:rPr>
                        <a:t>Demonstrates that LLMs can personalize academic guidance per student, improving on one-size-fits-all learning platforms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pPr>
                      <a:r>
                        <a:rPr sz="1100">
                          <a:latin typeface="Times New Roman"/>
                        </a:rPr>
                        <a:t>Focused on tutoring/assessment generation rather than calendar-driven task prioritization or event-driven system design</a:t>
                      </a:r>
                      <a:endParaRPr lang="en-US" sz="14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endParaRPr lang="en-IN" dirty="0"/>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endParaRPr lang="en-IN" dirty="0"/>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p:cNvSpPr txBox="1"/>
          <p:nvPr/>
        </p:nvSpPr>
        <p:spPr>
          <a:xfrm>
            <a:off x="900000" y="2150000"/>
            <a:ext cx="10400000" cy="4200000"/>
          </a:xfrm>
          <a:prstGeom prst="rect">
            <a:avLst/>
          </a:prstGeom>
          <a:noFill/>
        </p:spPr>
        <p:txBody>
          <a:bodyPr wrap="square">
            <a:spAutoFit/>
          </a:bodyPr>
          <a:lstStyle/>
          <a:p>
            <a:pPr>
              <a:spcAft>
                <a:spcPts val="1400"/>
              </a:spcAft>
            </a:pPr>
            <a:r>
              <a:rPr sz="1800">
                <a:solidFill>
                  <a:srgbClr val="202020"/>
                </a:solidFill>
                <a:latin typeface="Times New Roman"/>
              </a:rPr>
              <a:t>•  Existing academic planners (Google Calendar, Notion, generic to-do apps) are passive — they display information but never prioritize it.</a:t>
            </a:r>
          </a:p>
          <a:p>
            <a:pPr>
              <a:spcAft>
                <a:spcPts val="1400"/>
              </a:spcAft>
            </a:pPr>
            <a:r>
              <a:rPr sz="1800">
                <a:solidFill>
                  <a:srgbClr val="202020"/>
                </a:solidFill>
                <a:latin typeface="Times New Roman"/>
              </a:rPr>
              <a:t>•  Existing AI assistants require paid subscriptions, which most students cannot justify for a single planning use case.</a:t>
            </a:r>
          </a:p>
          <a:p>
            <a:pPr>
              <a:spcAft>
                <a:spcPts val="1400"/>
              </a:spcAft>
            </a:pPr>
            <a:r>
              <a:rPr sz="1800">
                <a:solidFill>
                  <a:srgbClr val="202020"/>
                </a:solidFill>
                <a:latin typeface="Times New Roman"/>
              </a:rPr>
              <a:t>•  No current tool combines live calendar data with a career/skill profile to generate context-aware, explainable priorities.</a:t>
            </a:r>
          </a:p>
          <a:p>
            <a:pPr>
              <a:spcAft>
                <a:spcPts val="1400"/>
              </a:spcAft>
            </a:pPr>
            <a:r>
              <a:rPr sz="1800">
                <a:solidFill>
                  <a:srgbClr val="202020"/>
                </a:solidFill>
                <a:latin typeface="Times New Roman"/>
              </a:rPr>
              <a:t>•  Most academic tools are monolithic and do not demonstrate or scale using modern distributed-systems patterns such as service discovery, event streaming, or resilience engineering.</a:t>
            </a:r>
          </a:p>
          <a:p>
            <a:pPr>
              <a:spcAft>
                <a:spcPts val="1400"/>
              </a:spcAft>
            </a:pPr>
            <a:r>
              <a:rPr sz="1800">
                <a:solidFill>
                  <a:srgbClr val="202020"/>
                </a:solidFill>
                <a:latin typeface="Times New Roman"/>
              </a:rPr>
              <a:t>•  SAGE addresses this gap by pairing free-tier LLM reasoning with an event-driven microservices architecture purpose-built for a student's real academic context.</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p:cNvSpPr txBox="1"/>
          <p:nvPr/>
        </p:nvSpPr>
        <p:spPr>
          <a:xfrm>
            <a:off x="900000" y="2150000"/>
            <a:ext cx="10400000" cy="4200000"/>
          </a:xfrm>
          <a:prstGeom prst="rect">
            <a:avLst/>
          </a:prstGeom>
          <a:noFill/>
        </p:spPr>
        <p:txBody>
          <a:bodyPr wrap="square">
            <a:spAutoFit/>
          </a:bodyPr>
          <a:lstStyle/>
          <a:p>
            <a:pPr>
              <a:spcAft>
                <a:spcPts val="1400"/>
              </a:spcAft>
            </a:pPr>
            <a:r>
              <a:rPr sz="1800">
                <a:solidFill>
                  <a:srgbClr val="202020"/>
                </a:solidFill>
                <a:latin typeface="Times New Roman"/>
              </a:rPr>
              <a:t>•  Career-aware prioritization: SAGE ranks tasks not just by due date but by grade weight and alignment with the student's stated career goal.</a:t>
            </a:r>
          </a:p>
          <a:p>
            <a:pPr>
              <a:spcAft>
                <a:spcPts val="1400"/>
              </a:spcAft>
            </a:pPr>
            <a:r>
              <a:rPr sz="1800">
                <a:solidFill>
                  <a:srgbClr val="202020"/>
                </a:solidFill>
                <a:latin typeface="Times New Roman"/>
              </a:rPr>
              <a:t>•  Dual-LLM resilience design: a free cloud LLM (Groq) serves as the primary reasoning engine, with an automatic, zero-cost local fallback (Ollama) triggered via a Resilience4j circuit breaker.</a:t>
            </a:r>
          </a:p>
          <a:p>
            <a:pPr>
              <a:spcAft>
                <a:spcPts val="1400"/>
              </a:spcAft>
            </a:pPr>
            <a:r>
              <a:rPr sz="1800">
                <a:solidFill>
                  <a:srgbClr val="202020"/>
                </a:solidFill>
                <a:latin typeface="Times New Roman"/>
              </a:rPr>
              <a:t>•  Fully event-driven core: deadline detection, digest generation, and notification delivery are decoupled through Kafka rather than tightly coupled synchronous calls.</a:t>
            </a:r>
          </a:p>
          <a:p>
            <a:pPr>
              <a:spcAft>
                <a:spcPts val="1400"/>
              </a:spcAft>
            </a:pPr>
            <a:r>
              <a:rPr sz="1800">
                <a:solidFill>
                  <a:srgbClr val="202020"/>
                </a:solidFill>
                <a:latin typeface="Times New Roman"/>
              </a:rPr>
              <a:t>•  Zero-cost architecture: every component — service discovery, messaging, caching, observability, and the LLM itself — runs on free-tier or self-hosted infrastructure.</a:t>
            </a:r>
          </a:p>
          <a:p>
            <a:pPr>
              <a:spcAft>
                <a:spcPts val="1400"/>
              </a:spcAft>
            </a:pPr>
            <a:r>
              <a:rPr sz="1800">
                <a:solidFill>
                  <a:srgbClr val="202020"/>
                </a:solidFill>
                <a:latin typeface="Times New Roman"/>
              </a:rPr>
              <a:t>•  Transparent AI reasoning: every generated priority includes a plain-language rationale, so the student sees why a task was ranked highly, not just what to do.</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sp>
        <p:nvSpPr>
          <p:cNvPr id="2" name="TextBox 1">
            <a:extLst>
              <a:ext uri="{FF2B5EF4-FFF2-40B4-BE49-F238E27FC236}">
                <a16:creationId xmlns:a16="http://schemas.microsoft.com/office/drawing/2014/main" id="{3F0303AA-CEE8-2513-1736-59CB3A5EF8E4}"/>
              </a:ext>
            </a:extLst>
          </p:cNvPr>
          <p:cNvSpPr txBox="1"/>
          <p:nvPr/>
        </p:nvSpPr>
        <p:spPr>
          <a:xfrm>
            <a:off x="1381398" y="1743891"/>
            <a:ext cx="10400000" cy="1000000"/>
          </a:xfrm>
          <a:prstGeom prst="rect">
            <a:avLst/>
          </a:prstGeom>
          <a:noFill/>
        </p:spPr>
        <p:txBody>
          <a:bodyPr wrap="square" rtlCol="0">
            <a:spAutoFit/>
          </a:bodyPr>
          <a:lstStyle/>
          <a:p>
            <a:r>
              <a:rPr lang="en-US" sz="1400" b="0" dirty="0">
                <a:solidFill>
                  <a:srgbClr val="202020"/>
                </a:solidFill>
                <a:latin typeface="Times New Roman"/>
              </a:rPr>
              <a:t>All core components — Spring Boot, Spring Cloud, Kafka, PostgreSQL, Redis, and Docker — are open-source and self-hosted at zero cost. The Groq API and a local Ollama fallback eliminate LLM subscription fees, and the Google Calendar API and Gmail SMTP operate free within their standard quotas. The project is scoped to a single, demonstrable core loop — calendar deadline to AI-generated digest to notification — making it feasible to build end-to-end within a four-week academic timeline.</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graphicFrame>
        <p:nvGraphicFramePr>
          <p:cNvPr id="6" name="Table 5"/>
          <p:cNvGraphicFramePr>
            <a:graphicFrameLocks noGrp="1"/>
          </p:cNvGraphicFramePr>
          <p:nvPr/>
        </p:nvGraphicFramePr>
        <p:xfrm>
          <a:off x="900000" y="2950000"/>
          <a:ext cx="10400000" cy="2600000"/>
        </p:xfrm>
        <a:graphic>
          <a:graphicData uri="http://schemas.openxmlformats.org/drawingml/2006/table">
            <a:tbl>
              <a:tblPr firstRow="1" bandRow="1">
                <a:tableStyleId>{5C22544A-7EE6-4342-B048-85BDC9FD1C3A}</a:tableStyleId>
              </a:tblPr>
              <a:tblGrid>
                <a:gridCol w="320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gridCol w="5400000">
                  <a:extLst>
                    <a:ext uri="{9D8B030D-6E8A-4147-A177-3AD203B41FA5}">
                      <a16:colId xmlns:a16="http://schemas.microsoft.com/office/drawing/2014/main" val="20002"/>
                    </a:ext>
                  </a:extLst>
                </a:gridCol>
              </a:tblGrid>
              <a:tr h="520000">
                <a:tc>
                  <a:txBody>
                    <a:bodyPr/>
                    <a:lstStyle/>
                    <a:p>
                      <a:r>
                        <a:rPr sz="1200" b="1">
                          <a:solidFill>
                            <a:srgbClr val="000000"/>
                          </a:solidFill>
                          <a:latin typeface="Times New Roman"/>
                        </a:rPr>
                        <a:t>Phase</a:t>
                      </a:r>
                    </a:p>
                  </a:txBody>
                  <a:tcPr>
                    <a:solidFill>
                      <a:srgbClr val="FFFF00"/>
                    </a:solidFill>
                  </a:tcPr>
                </a:tc>
                <a:tc>
                  <a:txBody>
                    <a:bodyPr/>
                    <a:lstStyle/>
                    <a:p>
                      <a:r>
                        <a:rPr sz="1200" b="1">
                          <a:solidFill>
                            <a:srgbClr val="000000"/>
                          </a:solidFill>
                          <a:latin typeface="Times New Roman"/>
                        </a:rPr>
                        <a:t>Duration</a:t>
                      </a:r>
                    </a:p>
                  </a:txBody>
                  <a:tcPr>
                    <a:solidFill>
                      <a:srgbClr val="FFFF00"/>
                    </a:solidFill>
                  </a:tcPr>
                </a:tc>
                <a:tc>
                  <a:txBody>
                    <a:bodyPr/>
                    <a:lstStyle/>
                    <a:p>
                      <a:r>
                        <a:rPr sz="1200" b="1">
                          <a:solidFill>
                            <a:srgbClr val="000000"/>
                          </a:solidFill>
                          <a:latin typeface="Times New Roman"/>
                        </a:rPr>
                        <a:t>Key Deliverable</a:t>
                      </a:r>
                    </a:p>
                  </a:txBody>
                  <a:tcPr>
                    <a:solidFill>
                      <a:srgbClr val="FFFF00"/>
                    </a:solidFill>
                  </a:tcPr>
                </a:tc>
                <a:extLst>
                  <a:ext uri="{0D108BD9-81ED-4DB2-BD59-A6C34878D82A}">
                    <a16:rowId xmlns:a16="http://schemas.microsoft.com/office/drawing/2014/main" val="10000"/>
                  </a:ext>
                </a:extLst>
              </a:tr>
              <a:tr h="520000">
                <a:tc>
                  <a:txBody>
                    <a:bodyPr/>
                    <a:lstStyle/>
                    <a:p>
                      <a:r>
                        <a:rPr sz="1200" b="0">
                          <a:latin typeface="Times New Roman"/>
                        </a:rPr>
                        <a:t>1. Architecture Foundation</a:t>
                      </a:r>
                    </a:p>
                  </a:txBody>
                  <a:tcPr>
                    <a:solidFill>
                      <a:srgbClr val="FFFFFF"/>
                    </a:solidFill>
                  </a:tcPr>
                </a:tc>
                <a:tc>
                  <a:txBody>
                    <a:bodyPr/>
                    <a:lstStyle/>
                    <a:p>
                      <a:r>
                        <a:rPr sz="1200" b="0">
                          <a:latin typeface="Times New Roman"/>
                        </a:rPr>
                        <a:t>Week 1</a:t>
                      </a:r>
                    </a:p>
                  </a:txBody>
                  <a:tcPr>
                    <a:solidFill>
                      <a:srgbClr val="FFFFFF"/>
                    </a:solidFill>
                  </a:tcPr>
                </a:tc>
                <a:tc>
                  <a:txBody>
                    <a:bodyPr/>
                    <a:lstStyle/>
                    <a:p>
                      <a:r>
                        <a:rPr sz="1200" b="0">
                          <a:latin typeface="Times New Roman"/>
                        </a:rPr>
                        <a:t>Eureka Server, Config Server, and API Gateway running; landing page built</a:t>
                      </a:r>
                    </a:p>
                  </a:txBody>
                  <a:tcPr>
                    <a:solidFill>
                      <a:srgbClr val="FFFFFF"/>
                    </a:solidFill>
                  </a:tcPr>
                </a:tc>
                <a:extLst>
                  <a:ext uri="{0D108BD9-81ED-4DB2-BD59-A6C34878D82A}">
                    <a16:rowId xmlns:a16="http://schemas.microsoft.com/office/drawing/2014/main" val="10001"/>
                  </a:ext>
                </a:extLst>
              </a:tr>
              <a:tr h="520000">
                <a:tc>
                  <a:txBody>
                    <a:bodyPr/>
                    <a:lstStyle/>
                    <a:p>
                      <a:r>
                        <a:rPr sz="1200" b="0">
                          <a:latin typeface="Times New Roman"/>
                        </a:rPr>
                        <a:t>2. Identity &amp; Data Services</a:t>
                      </a:r>
                    </a:p>
                  </a:txBody>
                  <a:tcPr>
                    <a:solidFill>
                      <a:srgbClr val="FFFFFF"/>
                    </a:solidFill>
                  </a:tcPr>
                </a:tc>
                <a:tc>
                  <a:txBody>
                    <a:bodyPr/>
                    <a:lstStyle/>
                    <a:p>
                      <a:r>
                        <a:rPr sz="1200" b="0">
                          <a:latin typeface="Times New Roman"/>
                        </a:rPr>
                        <a:t>Week 2</a:t>
                      </a:r>
                    </a:p>
                  </a:txBody>
                  <a:tcPr>
                    <a:solidFill>
                      <a:srgbClr val="FFFFFF"/>
                    </a:solidFill>
                  </a:tcPr>
                </a:tc>
                <a:tc>
                  <a:txBody>
                    <a:bodyPr/>
                    <a:lstStyle/>
                    <a:p>
                      <a:r>
                        <a:rPr sz="1200" b="0">
                          <a:latin typeface="Times New Roman"/>
                        </a:rPr>
                        <a:t>Google OAuth2 login; Calendar Ingestion and Profile services live with real data</a:t>
                      </a:r>
                    </a:p>
                  </a:txBody>
                  <a:tcPr>
                    <a:solidFill>
                      <a:srgbClr val="FFFFFF"/>
                    </a:solidFill>
                  </a:tcPr>
                </a:tc>
                <a:extLst>
                  <a:ext uri="{0D108BD9-81ED-4DB2-BD59-A6C34878D82A}">
                    <a16:rowId xmlns:a16="http://schemas.microsoft.com/office/drawing/2014/main" val="10002"/>
                  </a:ext>
                </a:extLst>
              </a:tr>
              <a:tr h="520000">
                <a:tc>
                  <a:txBody>
                    <a:bodyPr/>
                    <a:lstStyle/>
                    <a:p>
                      <a:r>
                        <a:rPr sz="1200" b="0">
                          <a:latin typeface="Times New Roman"/>
                        </a:rPr>
                        <a:t>3. Intelligence Core</a:t>
                      </a:r>
                    </a:p>
                  </a:txBody>
                  <a:tcPr>
                    <a:solidFill>
                      <a:srgbClr val="FFFFFF"/>
                    </a:solidFill>
                  </a:tcPr>
                </a:tc>
                <a:tc>
                  <a:txBody>
                    <a:bodyPr/>
                    <a:lstStyle/>
                    <a:p>
                      <a:r>
                        <a:rPr sz="1200" b="0">
                          <a:latin typeface="Times New Roman"/>
                        </a:rPr>
                        <a:t>Week 3</a:t>
                      </a:r>
                    </a:p>
                  </a:txBody>
                  <a:tcPr>
                    <a:solidFill>
                      <a:srgbClr val="FFFFFF"/>
                    </a:solidFill>
                  </a:tcPr>
                </a:tc>
                <a:tc>
                  <a:txBody>
                    <a:bodyPr/>
                    <a:lstStyle/>
                    <a:p>
                      <a:r>
                        <a:rPr sz="1200" b="0">
                          <a:latin typeface="Times New Roman"/>
                        </a:rPr>
                        <a:t>Kafka event bus wired; SAGE Brain generating real AI-driven priority digests</a:t>
                      </a:r>
                    </a:p>
                  </a:txBody>
                  <a:tcPr>
                    <a:solidFill>
                      <a:srgbClr val="FFFFFF"/>
                    </a:solidFill>
                  </a:tcPr>
                </a:tc>
                <a:extLst>
                  <a:ext uri="{0D108BD9-81ED-4DB2-BD59-A6C34878D82A}">
                    <a16:rowId xmlns:a16="http://schemas.microsoft.com/office/drawing/2014/main" val="10003"/>
                  </a:ext>
                </a:extLst>
              </a:tr>
              <a:tr h="520000">
                <a:tc>
                  <a:txBody>
                    <a:bodyPr/>
                    <a:lstStyle/>
                    <a:p>
                      <a:r>
                        <a:rPr sz="1200" b="0">
                          <a:latin typeface="Times New Roman"/>
                        </a:rPr>
                        <a:t>4. Delivery &amp; Reliability</a:t>
                      </a:r>
                    </a:p>
                  </a:txBody>
                  <a:tcPr>
                    <a:solidFill>
                      <a:srgbClr val="FFFFFF"/>
                    </a:solidFill>
                  </a:tcPr>
                </a:tc>
                <a:tc>
                  <a:txBody>
                    <a:bodyPr/>
                    <a:lstStyle/>
                    <a:p>
                      <a:r>
                        <a:rPr sz="1200" b="0">
                          <a:latin typeface="Times New Roman"/>
                        </a:rPr>
                        <a:t>Week 4</a:t>
                      </a:r>
                    </a:p>
                  </a:txBody>
                  <a:tcPr>
                    <a:solidFill>
                      <a:srgbClr val="FFFFFF"/>
                    </a:solidFill>
                  </a:tcPr>
                </a:tc>
                <a:tc>
                  <a:txBody>
                    <a:bodyPr/>
                    <a:lstStyle/>
                    <a:p>
                      <a:r>
                        <a:rPr sz="1200" b="0">
                          <a:latin typeface="Times New Roman"/>
                        </a:rPr>
                        <a:t>Notification delivery, Resilience4j fallback, full observability stack, final demo</a:t>
                      </a:r>
                    </a:p>
                  </a:txBody>
                  <a:tcP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118855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a:latin typeface="Times New Roman"/>
              </a:rPr>
              <a:t>Dataset and Data Sources (1 of 2)</a:t>
            </a:r>
          </a:p>
        </p:txBody>
      </p:sp>
      <p:sp>
        <p:nvSpPr>
          <p:cNvPr id="4" name="TextBox 3"/>
          <p:cNvSpPr txBox="1"/>
          <p:nvPr/>
        </p:nvSpPr>
        <p:spPr>
          <a:xfrm>
            <a:off x="896000" y="1131219"/>
            <a:ext cx="10400000" cy="350000"/>
          </a:xfrm>
          <a:prstGeom prst="rect">
            <a:avLst/>
          </a:prstGeom>
          <a:noFill/>
        </p:spPr>
        <p:txBody>
          <a:bodyPr wrap="square">
            <a:spAutoFit/>
          </a:bodyPr>
          <a:lstStyle/>
          <a:p>
            <a:pPr>
              <a:spcAft>
                <a:spcPts val="0"/>
              </a:spcAft>
            </a:pPr>
            <a:r>
              <a:rPr sz="1550" b="0" i="0" dirty="0">
                <a:solidFill>
                  <a:srgbClr val="202020"/>
                </a:solidFill>
                <a:latin typeface="Times New Roman"/>
              </a:rPr>
              <a:t>SAGE does not use a traditional static ML training dataset — it reasons over the student's own live planning data, collected from multiple sources.</a:t>
            </a:r>
          </a:p>
        </p:txBody>
      </p:sp>
      <p:graphicFrame>
        <p:nvGraphicFramePr>
          <p:cNvPr id="5" name="Table 4"/>
          <p:cNvGraphicFramePr>
            <a:graphicFrameLocks noGrp="1"/>
          </p:cNvGraphicFramePr>
          <p:nvPr/>
        </p:nvGraphicFramePr>
        <p:xfrm>
          <a:off x="900000" y="1800000"/>
          <a:ext cx="10400000" cy="4320000"/>
        </p:xfrm>
        <a:graphic>
          <a:graphicData uri="http://schemas.openxmlformats.org/drawingml/2006/table">
            <a:tbl>
              <a:tblPr firstRow="1" bandRow="1">
                <a:tableStyleId>{5C22544A-7EE6-4342-B048-85BDC9FD1C3A}</a:tableStyleId>
              </a:tblPr>
              <a:tblGrid>
                <a:gridCol w="2500000">
                  <a:extLst>
                    <a:ext uri="{9D8B030D-6E8A-4147-A177-3AD203B41FA5}">
                      <a16:colId xmlns:a16="http://schemas.microsoft.com/office/drawing/2014/main" val="20000"/>
                    </a:ext>
                  </a:extLst>
                </a:gridCol>
                <a:gridCol w="4400000">
                  <a:extLst>
                    <a:ext uri="{9D8B030D-6E8A-4147-A177-3AD203B41FA5}">
                      <a16:colId xmlns:a16="http://schemas.microsoft.com/office/drawing/2014/main" val="20001"/>
                    </a:ext>
                  </a:extLst>
                </a:gridCol>
                <a:gridCol w="3500000">
                  <a:extLst>
                    <a:ext uri="{9D8B030D-6E8A-4147-A177-3AD203B41FA5}">
                      <a16:colId xmlns:a16="http://schemas.microsoft.com/office/drawing/2014/main" val="20002"/>
                    </a:ext>
                  </a:extLst>
                </a:gridCol>
              </a:tblGrid>
              <a:tr h="1080000">
                <a:tc>
                  <a:txBody>
                    <a:bodyPr/>
                    <a:lstStyle/>
                    <a:p>
                      <a:r>
                        <a:rPr sz="1200" b="1" i="0">
                          <a:solidFill>
                            <a:srgbClr val="000000"/>
                          </a:solidFill>
                          <a:latin typeface="Times New Roman"/>
                        </a:rPr>
                        <a:t>Data source</a:t>
                      </a:r>
                    </a:p>
                  </a:txBody>
                  <a:tcPr marL="54864" marR="54864" marT="18288" marB="18288" anchor="ctr">
                    <a:solidFill>
                      <a:srgbClr val="FFFF00"/>
                    </a:solidFill>
                  </a:tcPr>
                </a:tc>
                <a:tc>
                  <a:txBody>
                    <a:bodyPr/>
                    <a:lstStyle/>
                    <a:p>
                      <a:r>
                        <a:rPr sz="1200" b="1" i="0">
                          <a:solidFill>
                            <a:srgbClr val="000000"/>
                          </a:solidFill>
                          <a:latin typeface="Times New Roman"/>
                        </a:rPr>
                        <a:t>What is captured</a:t>
                      </a:r>
                    </a:p>
                  </a:txBody>
                  <a:tcPr marL="54864" marR="54864" marT="18288" marB="18288" anchor="ctr">
                    <a:solidFill>
                      <a:srgbClr val="FFFF00"/>
                    </a:solidFill>
                  </a:tcPr>
                </a:tc>
                <a:tc>
                  <a:txBody>
                    <a:bodyPr/>
                    <a:lstStyle/>
                    <a:p>
                      <a:r>
                        <a:rPr sz="1200" b="1" i="0">
                          <a:solidFill>
                            <a:srgbClr val="000000"/>
                          </a:solidFill>
                          <a:latin typeface="Times New Roman"/>
                        </a:rPr>
                        <a:t>What SAGE uses it for</a:t>
                      </a:r>
                    </a:p>
                  </a:txBody>
                  <a:tcPr marL="54864" marR="54864" marT="18288" marB="18288" anchor="ctr">
                    <a:solidFill>
                      <a:srgbClr val="FFFF00"/>
                    </a:solidFill>
                  </a:tcPr>
                </a:tc>
                <a:extLst>
                  <a:ext uri="{0D108BD9-81ED-4DB2-BD59-A6C34878D82A}">
                    <a16:rowId xmlns:a16="http://schemas.microsoft.com/office/drawing/2014/main" val="10000"/>
                  </a:ext>
                </a:extLst>
              </a:tr>
              <a:tr h="1080000">
                <a:tc>
                  <a:txBody>
                    <a:bodyPr/>
                    <a:lstStyle/>
                    <a:p>
                      <a:r>
                        <a:rPr sz="1200" b="0" i="0">
                          <a:solidFill>
                            <a:srgbClr val="000000"/>
                          </a:solidFill>
                          <a:latin typeface="Times New Roman"/>
                        </a:rPr>
                        <a:t>Task Data</a:t>
                      </a:r>
                    </a:p>
                  </a:txBody>
                  <a:tcPr marL="54864" marR="54864" marT="18288" marB="18288" anchor="ctr">
                    <a:solidFill>
                      <a:srgbClr val="FFFFFF"/>
                    </a:solidFill>
                  </a:tcPr>
                </a:tc>
                <a:tc>
                  <a:txBody>
                    <a:bodyPr/>
                    <a:lstStyle/>
                    <a:p>
                      <a:r>
                        <a:rPr sz="1200" b="0" i="0">
                          <a:solidFill>
                            <a:srgbClr val="000000"/>
                          </a:solidFill>
                          <a:latin typeface="Times New Roman"/>
                        </a:rPr>
                        <a:t>Task title  ·  deadline  ·  effort estimate  ·  importance  ·  status  ·  snooze count</a:t>
                      </a:r>
                    </a:p>
                  </a:txBody>
                  <a:tcPr marL="54864" marR="54864" marT="18288" marB="18288" anchor="ctr">
                    <a:solidFill>
                      <a:srgbClr val="FFFFFF"/>
                    </a:solidFill>
                  </a:tcPr>
                </a:tc>
                <a:tc>
                  <a:txBody>
                    <a:bodyPr/>
                    <a:lstStyle/>
                    <a:p>
                      <a:r>
                        <a:rPr sz="1200" b="0" i="0">
                          <a:solidFill>
                            <a:srgbClr val="000000"/>
                          </a:solidFill>
                          <a:latin typeface="Times New Roman"/>
                        </a:rPr>
                        <a:t>Backbone of the daily plan — priority ranking, time-block sizing and snooze-pattern detection</a:t>
                      </a:r>
                    </a:p>
                  </a:txBody>
                  <a:tcPr marL="54864" marR="54864" marT="18288" marB="18288" anchor="ctr">
                    <a:solidFill>
                      <a:srgbClr val="FFFFFF"/>
                    </a:solidFill>
                  </a:tcPr>
                </a:tc>
                <a:extLst>
                  <a:ext uri="{0D108BD9-81ED-4DB2-BD59-A6C34878D82A}">
                    <a16:rowId xmlns:a16="http://schemas.microsoft.com/office/drawing/2014/main" val="10001"/>
                  </a:ext>
                </a:extLst>
              </a:tr>
              <a:tr h="1080000">
                <a:tc>
                  <a:txBody>
                    <a:bodyPr/>
                    <a:lstStyle/>
                    <a:p>
                      <a:r>
                        <a:rPr sz="1200" b="0" i="0">
                          <a:solidFill>
                            <a:srgbClr val="000000"/>
                          </a:solidFill>
                          <a:latin typeface="Times New Roman"/>
                        </a:rPr>
                        <a:t>Recurring Goals</a:t>
                      </a:r>
                    </a:p>
                  </a:txBody>
                  <a:tcPr marL="54864" marR="54864" marT="18288" marB="18288" anchor="ctr">
                    <a:solidFill>
                      <a:srgbClr val="FFFFFF"/>
                    </a:solidFill>
                  </a:tcPr>
                </a:tc>
                <a:tc>
                  <a:txBody>
                    <a:bodyPr/>
                    <a:lstStyle/>
                    <a:p>
                      <a:r>
                        <a:rPr sz="1200" b="0" i="0">
                          <a:solidFill>
                            <a:srgbClr val="000000"/>
                          </a:solidFill>
                          <a:latin typeface="Times New Roman"/>
                        </a:rPr>
                        <a:t>DSA practice  ·  online courses  ·  personal learning goals  ·  daily and weekly practice targets</a:t>
                      </a:r>
                    </a:p>
                  </a:txBody>
                  <a:tcPr marL="54864" marR="54864" marT="18288" marB="18288" anchor="ctr">
                    <a:solidFill>
                      <a:srgbClr val="FFFFFF"/>
                    </a:solidFill>
                  </a:tcPr>
                </a:tc>
                <a:tc>
                  <a:txBody>
                    <a:bodyPr/>
                    <a:lstStyle/>
                    <a:p>
                      <a:r>
                        <a:rPr sz="1200" b="0" i="0">
                          <a:solidFill>
                            <a:srgbClr val="000000"/>
                          </a:solidFill>
                          <a:latin typeface="Times New Roman"/>
                        </a:rPr>
                        <a:t>Auto-injected into every future plan without the student re-entering them</a:t>
                      </a:r>
                    </a:p>
                  </a:txBody>
                  <a:tcPr marL="54864" marR="54864" marT="18288" marB="18288" anchor="ctr">
                    <a:solidFill>
                      <a:srgbClr val="FFFFFF"/>
                    </a:solidFill>
                  </a:tcPr>
                </a:tc>
                <a:extLst>
                  <a:ext uri="{0D108BD9-81ED-4DB2-BD59-A6C34878D82A}">
                    <a16:rowId xmlns:a16="http://schemas.microsoft.com/office/drawing/2014/main" val="10002"/>
                  </a:ext>
                </a:extLst>
              </a:tr>
              <a:tr h="1080000">
                <a:tc>
                  <a:txBody>
                    <a:bodyPr/>
                    <a:lstStyle/>
                    <a:p>
                      <a:r>
                        <a:rPr sz="1200" b="0" i="0" dirty="0">
                          <a:solidFill>
                            <a:srgbClr val="000000"/>
                          </a:solidFill>
                          <a:latin typeface="Times New Roman"/>
                        </a:rPr>
                        <a:t>Google Calendar Data</a:t>
                      </a:r>
                    </a:p>
                  </a:txBody>
                  <a:tcPr marL="54864" marR="54864" marT="18288" marB="18288" anchor="ctr">
                    <a:solidFill>
                      <a:srgbClr val="FFFFFF"/>
                    </a:solidFill>
                  </a:tcPr>
                </a:tc>
                <a:tc>
                  <a:txBody>
                    <a:bodyPr/>
                    <a:lstStyle/>
                    <a:p>
                      <a:r>
                        <a:rPr sz="1200" b="0" i="0">
                          <a:solidFill>
                            <a:srgbClr val="000000"/>
                          </a:solidFill>
                          <a:latin typeface="Times New Roman"/>
                        </a:rPr>
                        <a:t>Classes  ·  labs  ·  exams  ·  other fixed commitments</a:t>
                      </a:r>
                    </a:p>
                  </a:txBody>
                  <a:tcPr marL="54864" marR="54864" marT="18288" marB="18288" anchor="ctr">
                    <a:solidFill>
                      <a:srgbClr val="FFFFFF"/>
                    </a:solidFill>
                  </a:tcPr>
                </a:tc>
                <a:tc>
                  <a:txBody>
                    <a:bodyPr/>
                    <a:lstStyle/>
                    <a:p>
                      <a:r>
                        <a:rPr sz="1200" b="0" i="0" dirty="0">
                          <a:solidFill>
                            <a:srgbClr val="000000"/>
                          </a:solidFill>
                          <a:latin typeface="Times New Roman"/>
                        </a:rPr>
                        <a:t>Computes the student's real available study time</a:t>
                      </a:r>
                    </a:p>
                  </a:txBody>
                  <a:tcPr marL="54864" marR="54864" marT="18288" marB="18288"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a:latin typeface="Times New Roman"/>
              </a:rPr>
              <a:t>Dataset and Data Sources (2 of 2)</a:t>
            </a:r>
          </a:p>
        </p:txBody>
      </p:sp>
      <p:graphicFrame>
        <p:nvGraphicFramePr>
          <p:cNvPr id="4" name="Table 3"/>
          <p:cNvGraphicFramePr>
            <a:graphicFrameLocks noGrp="1"/>
          </p:cNvGraphicFramePr>
          <p:nvPr/>
        </p:nvGraphicFramePr>
        <p:xfrm>
          <a:off x="900000" y="1500000"/>
          <a:ext cx="10400000" cy="3540000"/>
        </p:xfrm>
        <a:graphic>
          <a:graphicData uri="http://schemas.openxmlformats.org/drawingml/2006/table">
            <a:tbl>
              <a:tblPr firstRow="1" bandRow="1">
                <a:tableStyleId>{5C22544A-7EE6-4342-B048-85BDC9FD1C3A}</a:tableStyleId>
              </a:tblPr>
              <a:tblGrid>
                <a:gridCol w="2500000">
                  <a:extLst>
                    <a:ext uri="{9D8B030D-6E8A-4147-A177-3AD203B41FA5}">
                      <a16:colId xmlns:a16="http://schemas.microsoft.com/office/drawing/2014/main" val="20000"/>
                    </a:ext>
                  </a:extLst>
                </a:gridCol>
                <a:gridCol w="4400000">
                  <a:extLst>
                    <a:ext uri="{9D8B030D-6E8A-4147-A177-3AD203B41FA5}">
                      <a16:colId xmlns:a16="http://schemas.microsoft.com/office/drawing/2014/main" val="20001"/>
                    </a:ext>
                  </a:extLst>
                </a:gridCol>
                <a:gridCol w="3500000">
                  <a:extLst>
                    <a:ext uri="{9D8B030D-6E8A-4147-A177-3AD203B41FA5}">
                      <a16:colId xmlns:a16="http://schemas.microsoft.com/office/drawing/2014/main" val="20002"/>
                    </a:ext>
                  </a:extLst>
                </a:gridCol>
              </a:tblGrid>
              <a:tr h="1180000">
                <a:tc>
                  <a:txBody>
                    <a:bodyPr/>
                    <a:lstStyle/>
                    <a:p>
                      <a:r>
                        <a:rPr sz="1200" b="1" i="0">
                          <a:solidFill>
                            <a:srgbClr val="000000"/>
                          </a:solidFill>
                          <a:latin typeface="Times New Roman"/>
                        </a:rPr>
                        <a:t>Data source</a:t>
                      </a:r>
                    </a:p>
                  </a:txBody>
                  <a:tcPr marL="54864" marR="54864" marT="18288" marB="18288" anchor="ctr">
                    <a:solidFill>
                      <a:srgbClr val="FFFF00"/>
                    </a:solidFill>
                  </a:tcPr>
                </a:tc>
                <a:tc>
                  <a:txBody>
                    <a:bodyPr/>
                    <a:lstStyle/>
                    <a:p>
                      <a:r>
                        <a:rPr sz="1200" b="1" i="0">
                          <a:solidFill>
                            <a:srgbClr val="000000"/>
                          </a:solidFill>
                          <a:latin typeface="Times New Roman"/>
                        </a:rPr>
                        <a:t>What is captured</a:t>
                      </a:r>
                    </a:p>
                  </a:txBody>
                  <a:tcPr marL="54864" marR="54864" marT="18288" marB="18288" anchor="ctr">
                    <a:solidFill>
                      <a:srgbClr val="FFFF00"/>
                    </a:solidFill>
                  </a:tcPr>
                </a:tc>
                <a:tc>
                  <a:txBody>
                    <a:bodyPr/>
                    <a:lstStyle/>
                    <a:p>
                      <a:r>
                        <a:rPr sz="1200" b="1" i="0">
                          <a:solidFill>
                            <a:srgbClr val="000000"/>
                          </a:solidFill>
                          <a:latin typeface="Times New Roman"/>
                        </a:rPr>
                        <a:t>What SAGE uses it for</a:t>
                      </a:r>
                    </a:p>
                  </a:txBody>
                  <a:tcPr marL="54864" marR="54864" marT="18288" marB="18288" anchor="ctr">
                    <a:solidFill>
                      <a:srgbClr val="FFFF00"/>
                    </a:solidFill>
                  </a:tcPr>
                </a:tc>
                <a:extLst>
                  <a:ext uri="{0D108BD9-81ED-4DB2-BD59-A6C34878D82A}">
                    <a16:rowId xmlns:a16="http://schemas.microsoft.com/office/drawing/2014/main" val="10000"/>
                  </a:ext>
                </a:extLst>
              </a:tr>
              <a:tr h="1180000">
                <a:tc>
                  <a:txBody>
                    <a:bodyPr/>
                    <a:lstStyle/>
                    <a:p>
                      <a:r>
                        <a:rPr sz="1200" b="0" i="0">
                          <a:solidFill>
                            <a:srgbClr val="000000"/>
                          </a:solidFill>
                          <a:latin typeface="Times New Roman"/>
                        </a:rPr>
                        <a:t>Codeforces Data</a:t>
                      </a:r>
                    </a:p>
                  </a:txBody>
                  <a:tcPr marL="54864" marR="54864" marT="18288" marB="18288" anchor="ctr">
                    <a:solidFill>
                      <a:srgbClr val="FFFFFF"/>
                    </a:solidFill>
                  </a:tcPr>
                </a:tc>
                <a:tc>
                  <a:txBody>
                    <a:bodyPr/>
                    <a:lstStyle/>
                    <a:p>
                      <a:r>
                        <a:rPr sz="1200" b="0" i="0">
                          <a:solidFill>
                            <a:srgbClr val="000000"/>
                          </a:solidFill>
                          <a:latin typeface="Times New Roman"/>
                        </a:rPr>
                        <a:t>Upcoming contests  ·  contest start time  ·  contest duration  ·  contest information</a:t>
                      </a:r>
                    </a:p>
                  </a:txBody>
                  <a:tcPr marL="54864" marR="54864" marT="18288" marB="18288" anchor="ctr">
                    <a:solidFill>
                      <a:srgbClr val="FFFFFF"/>
                    </a:solidFill>
                  </a:tcPr>
                </a:tc>
                <a:tc>
                  <a:txBody>
                    <a:bodyPr/>
                    <a:lstStyle/>
                    <a:p>
                      <a:r>
                        <a:rPr sz="1200" b="0" i="0">
                          <a:solidFill>
                            <a:srgbClr val="000000"/>
                          </a:solidFill>
                          <a:latin typeface="Times New Roman"/>
                        </a:rPr>
                        <a:t>Injected into the plan as fixed-time events that cannot be moved</a:t>
                      </a:r>
                    </a:p>
                  </a:txBody>
                  <a:tcPr marL="54864" marR="54864" marT="18288" marB="18288" anchor="ctr">
                    <a:solidFill>
                      <a:srgbClr val="FFFFFF"/>
                    </a:solidFill>
                  </a:tcPr>
                </a:tc>
                <a:extLst>
                  <a:ext uri="{0D108BD9-81ED-4DB2-BD59-A6C34878D82A}">
                    <a16:rowId xmlns:a16="http://schemas.microsoft.com/office/drawing/2014/main" val="10001"/>
                  </a:ext>
                </a:extLst>
              </a:tr>
              <a:tr h="1180000">
                <a:tc>
                  <a:txBody>
                    <a:bodyPr/>
                    <a:lstStyle/>
                    <a:p>
                      <a:r>
                        <a:rPr sz="1200" b="0" i="0">
                          <a:solidFill>
                            <a:srgbClr val="000000"/>
                          </a:solidFill>
                          <a:latin typeface="Times New Roman"/>
                        </a:rPr>
                        <a:t>Student Behaviour Data</a:t>
                      </a:r>
                    </a:p>
                  </a:txBody>
                  <a:tcPr marL="54864" marR="54864" marT="18288" marB="18288" anchor="ctr">
                    <a:solidFill>
                      <a:srgbClr val="FFFFFF"/>
                    </a:solidFill>
                  </a:tcPr>
                </a:tc>
                <a:tc>
                  <a:txBody>
                    <a:bodyPr/>
                    <a:lstStyle/>
                    <a:p>
                      <a:r>
                        <a:rPr sz="1200" b="0" i="0" dirty="0">
                          <a:solidFill>
                            <a:srgbClr val="000000"/>
                          </a:solidFill>
                          <a:latin typeface="Times New Roman"/>
                        </a:rPr>
                        <a:t>Completed tasks  ·  skipped tasks  ·  snoozed tasks  ·  repeated snoozes</a:t>
                      </a:r>
                    </a:p>
                  </a:txBody>
                  <a:tcPr marL="54864" marR="54864" marT="18288" marB="18288" anchor="ctr">
                    <a:solidFill>
                      <a:srgbClr val="FFFFFF"/>
                    </a:solidFill>
                  </a:tcPr>
                </a:tc>
                <a:tc>
                  <a:txBody>
                    <a:bodyPr/>
                    <a:lstStyle/>
                    <a:p>
                      <a:r>
                        <a:rPr sz="1200" b="0" i="0" dirty="0">
                          <a:solidFill>
                            <a:srgbClr val="000000"/>
                          </a:solidFill>
                          <a:latin typeface="Times New Roman"/>
                        </a:rPr>
                        <a:t>The system's only learning signal — drives adaptive rescheduling and the snooze-pattern trigger</a:t>
                      </a:r>
                    </a:p>
                  </a:txBody>
                  <a:tcPr marL="54864" marR="54864" marT="18288" marB="18288" anchor="ctr">
                    <a:solidFill>
                      <a:srgbClr val="FFFFFF"/>
                    </a:solidFill>
                  </a:tcPr>
                </a:tc>
                <a:extLst>
                  <a:ext uri="{0D108BD9-81ED-4DB2-BD59-A6C34878D82A}">
                    <a16:rowId xmlns:a16="http://schemas.microsoft.com/office/drawing/2014/main" val="10002"/>
                  </a:ext>
                </a:extLst>
              </a:tr>
            </a:tbl>
          </a:graphicData>
        </a:graphic>
      </p:graphicFrame>
      <p:sp>
        <p:nvSpPr>
          <p:cNvPr id="5" name="TextBox 4"/>
          <p:cNvSpPr txBox="1"/>
          <p:nvPr/>
        </p:nvSpPr>
        <p:spPr>
          <a:xfrm>
            <a:off x="900000" y="5350000"/>
            <a:ext cx="10400000" cy="700000"/>
          </a:xfrm>
          <a:prstGeom prst="rect">
            <a:avLst/>
          </a:prstGeom>
          <a:noFill/>
        </p:spPr>
        <p:txBody>
          <a:bodyPr wrap="square">
            <a:spAutoFit/>
          </a:bodyPr>
          <a:lstStyle/>
          <a:p>
            <a:pPr algn="ctr"/>
            <a:r>
              <a:rPr sz="1500" b="0" i="1" dirty="0">
                <a:solidFill>
                  <a:srgbClr val="202020"/>
                </a:solidFill>
                <a:latin typeface="Times New Roman"/>
              </a:rPr>
              <a:t>The PRD defines tasks, recurring goals, Google Calendar events and </a:t>
            </a:r>
            <a:r>
              <a:rPr sz="1500" b="0" i="1" dirty="0" err="1">
                <a:solidFill>
                  <a:srgbClr val="202020"/>
                </a:solidFill>
                <a:latin typeface="Times New Roman"/>
              </a:rPr>
              <a:t>Codeforces</a:t>
            </a:r>
            <a:r>
              <a:rPr sz="1500" b="0" i="1" dirty="0">
                <a:solidFill>
                  <a:srgbClr val="202020"/>
                </a:solidFill>
                <a:latin typeface="Times New Roman"/>
              </a:rPr>
              <a:t> contests as the core inputs to SAGE; </a:t>
            </a:r>
            <a:r>
              <a:rPr sz="1500" b="0" i="1" dirty="0" err="1">
                <a:solidFill>
                  <a:srgbClr val="202020"/>
                </a:solidFill>
                <a:latin typeface="Times New Roman"/>
              </a:rPr>
              <a:t>behaviour</a:t>
            </a:r>
            <a:r>
              <a:rPr sz="1500" b="0" i="1" dirty="0">
                <a:solidFill>
                  <a:srgbClr val="202020"/>
                </a:solidFill>
                <a:latin typeface="Times New Roman"/>
              </a:rPr>
              <a:t> data is what makes the plan adapt over time.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a:latin typeface="Times New Roman"/>
              </a:rPr>
              <a:t>Methodology (1 of 2)</a:t>
            </a:r>
          </a:p>
        </p:txBody>
      </p:sp>
      <p:sp>
        <p:nvSpPr>
          <p:cNvPr id="4" name="TextBox 3"/>
          <p:cNvSpPr txBox="1"/>
          <p:nvPr/>
        </p:nvSpPr>
        <p:spPr>
          <a:xfrm>
            <a:off x="900000" y="1380000"/>
            <a:ext cx="10400000" cy="4900000"/>
          </a:xfrm>
          <a:prstGeom prst="rect">
            <a:avLst/>
          </a:prstGeom>
          <a:noFill/>
        </p:spPr>
        <p:txBody>
          <a:bodyPr wrap="square">
            <a:spAutoFit/>
          </a:bodyPr>
          <a:lstStyle/>
          <a:p>
            <a:pPr>
              <a:spcBef>
                <a:spcPts val="200"/>
              </a:spcBef>
              <a:spcAft>
                <a:spcPts val="300"/>
              </a:spcAft>
            </a:pPr>
            <a:r>
              <a:rPr sz="1950" b="1" i="0">
                <a:solidFill>
                  <a:srgbClr val="202020"/>
                </a:solidFill>
                <a:latin typeface="Times New Roman"/>
              </a:rPr>
              <a:t>Step 1 — Authentication</a:t>
            </a:r>
          </a:p>
          <a:p>
            <a:pPr>
              <a:spcAft>
                <a:spcPts val="300"/>
              </a:spcAft>
            </a:pPr>
            <a:r>
              <a:rPr sz="1600" b="0" i="0">
                <a:solidFill>
                  <a:srgbClr val="202020"/>
                </a:solidFill>
                <a:latin typeface="Times New Roman"/>
              </a:rPr>
              <a:t>        –  Student logs in using Google OAuth2.</a:t>
            </a:r>
          </a:p>
          <a:p>
            <a:pPr>
              <a:spcAft>
                <a:spcPts val="300"/>
              </a:spcAft>
            </a:pPr>
            <a:r>
              <a:rPr sz="1600" b="0" i="0">
                <a:solidFill>
                  <a:srgbClr val="202020"/>
                </a:solidFill>
                <a:latin typeface="Times New Roman"/>
              </a:rPr>
              <a:t>        –  Auth Service handles authentication and issues a JWT.</a:t>
            </a:r>
          </a:p>
          <a:p>
            <a:pPr>
              <a:spcAft>
                <a:spcPts val="300"/>
              </a:spcAft>
            </a:pPr>
            <a:r>
              <a:rPr sz="1600" b="0" i="0">
                <a:solidFill>
                  <a:srgbClr val="202020"/>
                </a:solidFill>
                <a:latin typeface="Times New Roman"/>
              </a:rPr>
              <a:t>        –  API Gateway validates every request.</a:t>
            </a:r>
          </a:p>
          <a:p>
            <a:pPr>
              <a:spcBef>
                <a:spcPts val="1100"/>
              </a:spcBef>
              <a:spcAft>
                <a:spcPts val="300"/>
              </a:spcAft>
            </a:pPr>
            <a:r>
              <a:rPr sz="1950" b="1" i="0">
                <a:solidFill>
                  <a:srgbClr val="202020"/>
                </a:solidFill>
                <a:latin typeface="Times New Roman"/>
              </a:rPr>
              <a:t>Step 2 — Data Collection</a:t>
            </a:r>
          </a:p>
          <a:p>
            <a:pPr>
              <a:spcAft>
                <a:spcPts val="300"/>
              </a:spcAft>
            </a:pPr>
            <a:r>
              <a:rPr sz="1600" b="0" i="0">
                <a:solidFill>
                  <a:srgbClr val="202020"/>
                </a:solidFill>
                <a:latin typeface="Times New Roman"/>
              </a:rPr>
              <a:t>        –  Tasks are created through the frontend.</a:t>
            </a:r>
          </a:p>
          <a:p>
            <a:pPr>
              <a:spcAft>
                <a:spcPts val="300"/>
              </a:spcAft>
            </a:pPr>
            <a:r>
              <a:rPr sz="1600" b="0" i="0">
                <a:solidFill>
                  <a:srgbClr val="202020"/>
                </a:solidFill>
                <a:latin typeface="Times New Roman"/>
              </a:rPr>
              <a:t>        –  Recurring goals are stored.</a:t>
            </a:r>
          </a:p>
          <a:p>
            <a:pPr>
              <a:spcAft>
                <a:spcPts val="300"/>
              </a:spcAft>
            </a:pPr>
            <a:r>
              <a:rPr sz="1600" b="0" i="0">
                <a:solidFill>
                  <a:srgbClr val="202020"/>
                </a:solidFill>
                <a:latin typeface="Times New Roman"/>
              </a:rPr>
              <a:t>        –  Google Calendar provides fixed commitments.</a:t>
            </a:r>
          </a:p>
          <a:p>
            <a:pPr>
              <a:spcAft>
                <a:spcPts val="300"/>
              </a:spcAft>
            </a:pPr>
            <a:r>
              <a:rPr sz="1600" b="0" i="0">
                <a:solidFill>
                  <a:srgbClr val="202020"/>
                </a:solidFill>
                <a:latin typeface="Times New Roman"/>
              </a:rPr>
              <a:t>        –  Codeforces provides upcoming contests.</a:t>
            </a:r>
          </a:p>
          <a:p>
            <a:pPr>
              <a:spcBef>
                <a:spcPts val="1100"/>
              </a:spcBef>
              <a:spcAft>
                <a:spcPts val="300"/>
              </a:spcAft>
            </a:pPr>
            <a:r>
              <a:rPr sz="1950" b="1" i="0">
                <a:solidFill>
                  <a:srgbClr val="202020"/>
                </a:solidFill>
                <a:latin typeface="Times New Roman"/>
              </a:rPr>
              <a:t>Step 3 — Data Integration</a:t>
            </a:r>
          </a:p>
          <a:p>
            <a:pPr>
              <a:spcAft>
                <a:spcPts val="300"/>
              </a:spcAft>
            </a:pPr>
            <a:r>
              <a:rPr sz="1600" b="0" i="0">
                <a:solidFill>
                  <a:srgbClr val="202020"/>
                </a:solidFill>
                <a:latin typeface="Times New Roman"/>
              </a:rPr>
              <a:t>        –  Planning Service combines tasks + goals + calendar events + contests + available time into one input set.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a:latin typeface="Times New Roman"/>
              </a:rPr>
              <a:t>Methodology (2 of 2)</a:t>
            </a:r>
          </a:p>
        </p:txBody>
      </p:sp>
      <p:sp>
        <p:nvSpPr>
          <p:cNvPr id="4" name="TextBox 3"/>
          <p:cNvSpPr txBox="1"/>
          <p:nvPr/>
        </p:nvSpPr>
        <p:spPr>
          <a:xfrm>
            <a:off x="900000" y="1380000"/>
            <a:ext cx="10400000" cy="4900000"/>
          </a:xfrm>
          <a:prstGeom prst="rect">
            <a:avLst/>
          </a:prstGeom>
          <a:noFill/>
        </p:spPr>
        <p:txBody>
          <a:bodyPr wrap="square">
            <a:spAutoFit/>
          </a:bodyPr>
          <a:lstStyle/>
          <a:p>
            <a:pPr>
              <a:spcBef>
                <a:spcPts val="200"/>
              </a:spcBef>
              <a:spcAft>
                <a:spcPts val="300"/>
              </a:spcAft>
            </a:pPr>
            <a:r>
              <a:rPr sz="1950" b="1" i="0">
                <a:solidFill>
                  <a:srgbClr val="202020"/>
                </a:solidFill>
                <a:latin typeface="Times New Roman"/>
              </a:rPr>
              <a:t>Step 4 — Plan Generation</a:t>
            </a:r>
          </a:p>
          <a:p>
            <a:pPr>
              <a:spcAft>
                <a:spcPts val="300"/>
              </a:spcAft>
            </a:pPr>
            <a:r>
              <a:rPr sz="1600" b="0" i="0">
                <a:solidFill>
                  <a:srgbClr val="202020"/>
                </a:solidFill>
                <a:latin typeface="Times New Roman"/>
              </a:rPr>
              <a:t>        –  Planning Service produces the priority order, time blocks, the daily schedule, available study time and the overload warning.</a:t>
            </a:r>
          </a:p>
          <a:p>
            <a:pPr>
              <a:spcBef>
                <a:spcPts val="1100"/>
              </a:spcBef>
              <a:spcAft>
                <a:spcPts val="300"/>
              </a:spcAft>
            </a:pPr>
            <a:r>
              <a:rPr sz="1950" b="1" i="0">
                <a:solidFill>
                  <a:srgbClr val="202020"/>
                </a:solidFill>
                <a:latin typeface="Times New Roman"/>
              </a:rPr>
              <a:t>Step 5 — AI Reasoning (SAGE Brain)</a:t>
            </a:r>
          </a:p>
          <a:p>
            <a:pPr>
              <a:spcAft>
                <a:spcPts val="300"/>
              </a:spcAft>
            </a:pPr>
            <a:r>
              <a:rPr sz="1600" b="0" i="0">
                <a:solidFill>
                  <a:srgbClr val="202020"/>
                </a:solidFill>
                <a:latin typeface="Times New Roman"/>
              </a:rPr>
              <a:t>        –  Uses the student's current data to explain priorities, answer questions and provide schedule reasoning.</a:t>
            </a:r>
          </a:p>
          <a:p>
            <a:pPr>
              <a:spcBef>
                <a:spcPts val="1100"/>
              </a:spcBef>
              <a:spcAft>
                <a:spcPts val="300"/>
              </a:spcAft>
            </a:pPr>
            <a:r>
              <a:rPr sz="1950" b="1" i="0">
                <a:solidFill>
                  <a:srgbClr val="202020"/>
                </a:solidFill>
                <a:latin typeface="Times New Roman"/>
              </a:rPr>
              <a:t>Step 6 — Feedback</a:t>
            </a:r>
          </a:p>
          <a:p>
            <a:pPr>
              <a:spcAft>
                <a:spcPts val="300"/>
              </a:spcAft>
            </a:pPr>
            <a:r>
              <a:rPr sz="1600" b="0" i="0">
                <a:solidFill>
                  <a:srgbClr val="202020"/>
                </a:solidFill>
                <a:latin typeface="Times New Roman"/>
              </a:rPr>
              <a:t>        –  Student selects Done, Skip or Snooze.</a:t>
            </a:r>
          </a:p>
          <a:p>
            <a:pPr>
              <a:spcAft>
                <a:spcPts val="300"/>
              </a:spcAft>
            </a:pPr>
            <a:r>
              <a:rPr sz="1600" b="0" i="0">
                <a:solidFill>
                  <a:srgbClr val="202020"/>
                </a:solidFill>
                <a:latin typeface="Times New Roman"/>
              </a:rPr>
              <a:t>        –  The system records this behaviour and uses it when creating future plans.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a:latin typeface="Times New Roman"/>
              </a:rPr>
              <a:t>Methodology — Data Flow</a:t>
            </a:r>
          </a:p>
        </p:txBody>
      </p:sp>
      <p:pic>
        <p:nvPicPr>
          <p:cNvPr id="4" name="Picture 3" descr="fig_method.png"/>
          <p:cNvPicPr>
            <a:picLocks noChangeAspect="1"/>
          </p:cNvPicPr>
          <p:nvPr/>
        </p:nvPicPr>
        <p:blipFill>
          <a:blip r:embed="rId3"/>
          <a:stretch>
            <a:fillRect/>
          </a:stretch>
        </p:blipFill>
        <p:spPr>
          <a:xfrm>
            <a:off x="1000739" y="2107998"/>
            <a:ext cx="10400000" cy="3071014"/>
          </a:xfrm>
          <a:prstGeom prst="rect">
            <a:avLst/>
          </a:prstGeom>
        </p:spPr>
      </p:pic>
      <p:sp>
        <p:nvSpPr>
          <p:cNvPr id="5" name="TextBox 4"/>
          <p:cNvSpPr txBox="1"/>
          <p:nvPr/>
        </p:nvSpPr>
        <p:spPr>
          <a:xfrm>
            <a:off x="900000" y="6280000"/>
            <a:ext cx="10400000" cy="300000"/>
          </a:xfrm>
          <a:prstGeom prst="rect">
            <a:avLst/>
          </a:prstGeom>
          <a:noFill/>
        </p:spPr>
        <p:txBody>
          <a:bodyPr wrap="square">
            <a:spAutoFit/>
          </a:bodyPr>
          <a:lstStyle/>
          <a:p>
            <a:pPr algn="ctr"/>
            <a:r>
              <a:rPr sz="1400" b="0" i="1">
                <a:solidFill>
                  <a:srgbClr val="202020"/>
                </a:solidFill>
                <a:latin typeface="Times New Roman"/>
              </a:rPr>
              <a:t>Figure 1 — Methodology end to end: authentication, collection, integration, plan generation, AI reasoning and the feedback loop that makes future plans more realistic.</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a:latin typeface="Times New Roman"/>
              </a:rPr>
              <a:t>Feature Set — MVP (1 of 2)</a:t>
            </a:r>
          </a:p>
        </p:txBody>
      </p:sp>
      <p:graphicFrame>
        <p:nvGraphicFramePr>
          <p:cNvPr id="4" name="Table 3"/>
          <p:cNvGraphicFramePr>
            <a:graphicFrameLocks noGrp="1"/>
          </p:cNvGraphicFramePr>
          <p:nvPr/>
        </p:nvGraphicFramePr>
        <p:xfrm>
          <a:off x="900000" y="1450000"/>
          <a:ext cx="10390000" cy="5280000"/>
        </p:xfrm>
        <a:graphic>
          <a:graphicData uri="http://schemas.openxmlformats.org/drawingml/2006/table">
            <a:tbl>
              <a:tblPr firstRow="1" bandRow="1">
                <a:tableStyleId>{5C22544A-7EE6-4342-B048-85BDC9FD1C3A}</a:tableStyleId>
              </a:tblPr>
              <a:tblGrid>
                <a:gridCol w="560000">
                  <a:extLst>
                    <a:ext uri="{9D8B030D-6E8A-4147-A177-3AD203B41FA5}">
                      <a16:colId xmlns:a16="http://schemas.microsoft.com/office/drawing/2014/main" val="20000"/>
                    </a:ext>
                  </a:extLst>
                </a:gridCol>
                <a:gridCol w="2600000">
                  <a:extLst>
                    <a:ext uri="{9D8B030D-6E8A-4147-A177-3AD203B41FA5}">
                      <a16:colId xmlns:a16="http://schemas.microsoft.com/office/drawing/2014/main" val="20001"/>
                    </a:ext>
                  </a:extLst>
                </a:gridCol>
                <a:gridCol w="7230000">
                  <a:extLst>
                    <a:ext uri="{9D8B030D-6E8A-4147-A177-3AD203B41FA5}">
                      <a16:colId xmlns:a16="http://schemas.microsoft.com/office/drawing/2014/main" val="20002"/>
                    </a:ext>
                  </a:extLst>
                </a:gridCol>
              </a:tblGrid>
              <a:tr h="880000">
                <a:tc>
                  <a:txBody>
                    <a:bodyPr/>
                    <a:lstStyle/>
                    <a:p>
                      <a:r>
                        <a:rPr sz="1300" b="1" i="0">
                          <a:solidFill>
                            <a:srgbClr val="000000"/>
                          </a:solidFill>
                          <a:latin typeface="Times New Roman"/>
                        </a:rPr>
                        <a:t>#</a:t>
                      </a:r>
                    </a:p>
                  </a:txBody>
                  <a:tcPr marL="54864" marR="54864" marT="18288" marB="18288" anchor="ctr">
                    <a:solidFill>
                      <a:srgbClr val="FFFF00"/>
                    </a:solidFill>
                  </a:tcPr>
                </a:tc>
                <a:tc>
                  <a:txBody>
                    <a:bodyPr/>
                    <a:lstStyle/>
                    <a:p>
                      <a:r>
                        <a:rPr sz="1300" b="1" i="0">
                          <a:solidFill>
                            <a:srgbClr val="000000"/>
                          </a:solidFill>
                          <a:latin typeface="Times New Roman"/>
                        </a:rPr>
                        <a:t>Feature</a:t>
                      </a:r>
                    </a:p>
                  </a:txBody>
                  <a:tcPr marL="54864" marR="54864" marT="18288" marB="18288" anchor="ctr">
                    <a:solidFill>
                      <a:srgbClr val="FFFF00"/>
                    </a:solidFill>
                  </a:tcPr>
                </a:tc>
                <a:tc>
                  <a:txBody>
                    <a:bodyPr/>
                    <a:lstStyle/>
                    <a:p>
                      <a:r>
                        <a:rPr sz="1300" b="1" i="0">
                          <a:solidFill>
                            <a:srgbClr val="000000"/>
                          </a:solidFill>
                          <a:latin typeface="Times New Roman"/>
                        </a:rPr>
                        <a:t>What it does</a:t>
                      </a:r>
                    </a:p>
                  </a:txBody>
                  <a:tcPr marL="54864" marR="54864" marT="18288" marB="18288" anchor="ctr">
                    <a:solidFill>
                      <a:srgbClr val="FFFF00"/>
                    </a:solidFill>
                  </a:tcPr>
                </a:tc>
                <a:extLst>
                  <a:ext uri="{0D108BD9-81ED-4DB2-BD59-A6C34878D82A}">
                    <a16:rowId xmlns:a16="http://schemas.microsoft.com/office/drawing/2014/main" val="10000"/>
                  </a:ext>
                </a:extLst>
              </a:tr>
              <a:tr h="880000">
                <a:tc>
                  <a:txBody>
                    <a:bodyPr/>
                    <a:lstStyle/>
                    <a:p>
                      <a:r>
                        <a:rPr sz="1300" b="0" i="0">
                          <a:solidFill>
                            <a:srgbClr val="000000"/>
                          </a:solidFill>
                          <a:latin typeface="Times New Roman"/>
                        </a:rPr>
                        <a:t>1</a:t>
                      </a:r>
                    </a:p>
                  </a:txBody>
                  <a:tcPr marL="54864" marR="54864" marT="18288" marB="18288" anchor="ctr">
                    <a:solidFill>
                      <a:srgbClr val="FFFFFF"/>
                    </a:solidFill>
                  </a:tcPr>
                </a:tc>
                <a:tc>
                  <a:txBody>
                    <a:bodyPr/>
                    <a:lstStyle/>
                    <a:p>
                      <a:r>
                        <a:rPr sz="1300" b="0" i="0">
                          <a:solidFill>
                            <a:srgbClr val="000000"/>
                          </a:solidFill>
                          <a:latin typeface="Times New Roman"/>
                        </a:rPr>
                        <a:t>Task management</a:t>
                      </a:r>
                    </a:p>
                  </a:txBody>
                  <a:tcPr marL="54864" marR="54864" marT="18288" marB="18288" anchor="ctr">
                    <a:solidFill>
                      <a:srgbClr val="FFFFFF"/>
                    </a:solidFill>
                  </a:tcPr>
                </a:tc>
                <a:tc>
                  <a:txBody>
                    <a:bodyPr/>
                    <a:lstStyle/>
                    <a:p>
                      <a:r>
                        <a:rPr sz="1300" b="0" i="0">
                          <a:solidFill>
                            <a:srgbClr val="000000"/>
                          </a:solidFill>
                          <a:latin typeface="Times New Roman"/>
                        </a:rPr>
                        <a:t>Create, view and update tasks — title, deadline, effort estimate, importance, status.</a:t>
                      </a:r>
                    </a:p>
                  </a:txBody>
                  <a:tcPr marL="54864" marR="54864" marT="18288" marB="18288" anchor="ctr">
                    <a:solidFill>
                      <a:srgbClr val="FFFFFF"/>
                    </a:solidFill>
                  </a:tcPr>
                </a:tc>
                <a:extLst>
                  <a:ext uri="{0D108BD9-81ED-4DB2-BD59-A6C34878D82A}">
                    <a16:rowId xmlns:a16="http://schemas.microsoft.com/office/drawing/2014/main" val="10001"/>
                  </a:ext>
                </a:extLst>
              </a:tr>
              <a:tr h="880000">
                <a:tc>
                  <a:txBody>
                    <a:bodyPr/>
                    <a:lstStyle/>
                    <a:p>
                      <a:r>
                        <a:rPr sz="1300" b="0" i="0">
                          <a:solidFill>
                            <a:srgbClr val="000000"/>
                          </a:solidFill>
                          <a:latin typeface="Times New Roman"/>
                        </a:rPr>
                        <a:t>2</a:t>
                      </a:r>
                    </a:p>
                  </a:txBody>
                  <a:tcPr marL="54864" marR="54864" marT="18288" marB="18288" anchor="ctr">
                    <a:solidFill>
                      <a:srgbClr val="FFFFFF"/>
                    </a:solidFill>
                  </a:tcPr>
                </a:tc>
                <a:tc>
                  <a:txBody>
                    <a:bodyPr/>
                    <a:lstStyle/>
                    <a:p>
                      <a:r>
                        <a:rPr sz="1300" b="0" i="0">
                          <a:solidFill>
                            <a:srgbClr val="000000"/>
                          </a:solidFill>
                          <a:latin typeface="Times New Roman"/>
                        </a:rPr>
                        <a:t>Recurring goals</a:t>
                      </a:r>
                    </a:p>
                  </a:txBody>
                  <a:tcPr marL="54864" marR="54864" marT="18288" marB="18288" anchor="ctr">
                    <a:solidFill>
                      <a:srgbClr val="FFFFFF"/>
                    </a:solidFill>
                  </a:tcPr>
                </a:tc>
                <a:tc>
                  <a:txBody>
                    <a:bodyPr/>
                    <a:lstStyle/>
                    <a:p>
                      <a:r>
                        <a:rPr sz="1300" b="0" i="0">
                          <a:solidFill>
                            <a:srgbClr val="000000"/>
                          </a:solidFill>
                          <a:latin typeface="Times New Roman"/>
                        </a:rPr>
                        <a:t>Define once (e.g. “LeetCode, 1 hr/day”); auto-included in every future plan without re-entry.</a:t>
                      </a:r>
                    </a:p>
                  </a:txBody>
                  <a:tcPr marL="54864" marR="54864" marT="18288" marB="18288" anchor="ctr">
                    <a:solidFill>
                      <a:srgbClr val="FFFFFF"/>
                    </a:solidFill>
                  </a:tcPr>
                </a:tc>
                <a:extLst>
                  <a:ext uri="{0D108BD9-81ED-4DB2-BD59-A6C34878D82A}">
                    <a16:rowId xmlns:a16="http://schemas.microsoft.com/office/drawing/2014/main" val="10002"/>
                  </a:ext>
                </a:extLst>
              </a:tr>
              <a:tr h="880000">
                <a:tc>
                  <a:txBody>
                    <a:bodyPr/>
                    <a:lstStyle/>
                    <a:p>
                      <a:r>
                        <a:rPr sz="1300" b="0" i="0">
                          <a:solidFill>
                            <a:srgbClr val="000000"/>
                          </a:solidFill>
                          <a:latin typeface="Times New Roman"/>
                        </a:rPr>
                        <a:t>3</a:t>
                      </a:r>
                    </a:p>
                  </a:txBody>
                  <a:tcPr marL="54864" marR="54864" marT="18288" marB="18288" anchor="ctr">
                    <a:solidFill>
                      <a:srgbClr val="FFFFFF"/>
                    </a:solidFill>
                  </a:tcPr>
                </a:tc>
                <a:tc>
                  <a:txBody>
                    <a:bodyPr/>
                    <a:lstStyle/>
                    <a:p>
                      <a:r>
                        <a:rPr sz="1300" b="0" i="0">
                          <a:solidFill>
                            <a:srgbClr val="000000"/>
                          </a:solidFill>
                          <a:latin typeface="Times New Roman"/>
                        </a:rPr>
                        <a:t>Today's plan</a:t>
                      </a:r>
                    </a:p>
                  </a:txBody>
                  <a:tcPr marL="54864" marR="54864" marT="18288" marB="18288" anchor="ctr">
                    <a:solidFill>
                      <a:srgbClr val="FFFFFF"/>
                    </a:solidFill>
                  </a:tcPr>
                </a:tc>
                <a:tc>
                  <a:txBody>
                    <a:bodyPr/>
                    <a:lstStyle/>
                    <a:p>
                      <a:r>
                        <a:rPr sz="1300" b="0" i="0">
                          <a:solidFill>
                            <a:srgbClr val="000000"/>
                          </a:solidFill>
                          <a:latin typeface="Times New Roman"/>
                        </a:rPr>
                        <a:t>Time-blocked schedule built from tasks + goals + fixed calendar and contest events, fitted to the student's real available hours.</a:t>
                      </a:r>
                    </a:p>
                  </a:txBody>
                  <a:tcPr marL="54864" marR="54864" marT="18288" marB="18288" anchor="ctr">
                    <a:solidFill>
                      <a:srgbClr val="FFFFFF"/>
                    </a:solidFill>
                  </a:tcPr>
                </a:tc>
                <a:extLst>
                  <a:ext uri="{0D108BD9-81ED-4DB2-BD59-A6C34878D82A}">
                    <a16:rowId xmlns:a16="http://schemas.microsoft.com/office/drawing/2014/main" val="10003"/>
                  </a:ext>
                </a:extLst>
              </a:tr>
              <a:tr h="880000">
                <a:tc>
                  <a:txBody>
                    <a:bodyPr/>
                    <a:lstStyle/>
                    <a:p>
                      <a:r>
                        <a:rPr sz="1300" b="0" i="0">
                          <a:solidFill>
                            <a:srgbClr val="000000"/>
                          </a:solidFill>
                          <a:latin typeface="Times New Roman"/>
                        </a:rPr>
                        <a:t>4</a:t>
                      </a:r>
                    </a:p>
                  </a:txBody>
                  <a:tcPr marL="54864" marR="54864" marT="18288" marB="18288" anchor="ctr">
                    <a:solidFill>
                      <a:srgbClr val="FFFFFF"/>
                    </a:solidFill>
                  </a:tcPr>
                </a:tc>
                <a:tc>
                  <a:txBody>
                    <a:bodyPr/>
                    <a:lstStyle/>
                    <a:p>
                      <a:r>
                        <a:rPr sz="1300" b="0" i="0">
                          <a:solidFill>
                            <a:srgbClr val="000000"/>
                          </a:solidFill>
                          <a:latin typeface="Times New Roman"/>
                        </a:rPr>
                        <a:t>Overload warning</a:t>
                      </a:r>
                    </a:p>
                  </a:txBody>
                  <a:tcPr marL="54864" marR="54864" marT="18288" marB="18288" anchor="ctr">
                    <a:solidFill>
                      <a:srgbClr val="FFFFFF"/>
                    </a:solidFill>
                  </a:tcPr>
                </a:tc>
                <a:tc>
                  <a:txBody>
                    <a:bodyPr/>
                    <a:lstStyle/>
                    <a:p>
                      <a:r>
                        <a:rPr sz="1300" b="0" i="0">
                          <a:solidFill>
                            <a:srgbClr val="000000"/>
                          </a:solidFill>
                          <a:latin typeface="Times New Roman"/>
                        </a:rPr>
                        <a:t>Explicit alert when planned work exceeds available hours, together with a suggested task to defer.</a:t>
                      </a:r>
                    </a:p>
                  </a:txBody>
                  <a:tcPr marL="54864" marR="54864" marT="18288" marB="18288" anchor="ctr">
                    <a:solidFill>
                      <a:srgbClr val="FFFFFF"/>
                    </a:solidFill>
                  </a:tcPr>
                </a:tc>
                <a:extLst>
                  <a:ext uri="{0D108BD9-81ED-4DB2-BD59-A6C34878D82A}">
                    <a16:rowId xmlns:a16="http://schemas.microsoft.com/office/drawing/2014/main" val="10004"/>
                  </a:ext>
                </a:extLst>
              </a:tr>
              <a:tr h="880000">
                <a:tc>
                  <a:txBody>
                    <a:bodyPr/>
                    <a:lstStyle/>
                    <a:p>
                      <a:r>
                        <a:rPr sz="1300" b="0" i="0">
                          <a:solidFill>
                            <a:srgbClr val="000000"/>
                          </a:solidFill>
                          <a:latin typeface="Times New Roman"/>
                        </a:rPr>
                        <a:t>5</a:t>
                      </a:r>
                    </a:p>
                  </a:txBody>
                  <a:tcPr marL="54864" marR="54864" marT="18288" marB="18288" anchor="ctr">
                    <a:solidFill>
                      <a:srgbClr val="FFFFFF"/>
                    </a:solidFill>
                  </a:tcPr>
                </a:tc>
                <a:tc>
                  <a:txBody>
                    <a:bodyPr/>
                    <a:lstStyle/>
                    <a:p>
                      <a:r>
                        <a:rPr sz="1300" b="0" i="0">
                          <a:solidFill>
                            <a:srgbClr val="000000"/>
                          </a:solidFill>
                          <a:latin typeface="Times New Roman"/>
                        </a:rPr>
                        <a:t>Done / Skip / Snooze logging</a:t>
                      </a:r>
                    </a:p>
                  </a:txBody>
                  <a:tcPr marL="54864" marR="54864" marT="18288" marB="18288" anchor="ctr">
                    <a:solidFill>
                      <a:srgbClr val="FFFFFF"/>
                    </a:solidFill>
                  </a:tcPr>
                </a:tc>
                <a:tc>
                  <a:txBody>
                    <a:bodyPr/>
                    <a:lstStyle/>
                    <a:p>
                      <a:r>
                        <a:rPr sz="1300" b="0" i="0">
                          <a:solidFill>
                            <a:srgbClr val="000000"/>
                          </a:solidFill>
                          <a:latin typeface="Times New Roman"/>
                        </a:rPr>
                        <a:t>One-tap status update per task — this is the behavioural data source that drives adaptation.</a:t>
                      </a:r>
                    </a:p>
                  </a:txBody>
                  <a:tcPr marL="54864" marR="54864" marT="18288" marB="18288"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a:latin typeface="Times New Roman"/>
              </a:rPr>
              <a:t>Feature Set — MVP (2 of 2)</a:t>
            </a:r>
          </a:p>
        </p:txBody>
      </p:sp>
      <p:graphicFrame>
        <p:nvGraphicFramePr>
          <p:cNvPr id="4" name="Table 3"/>
          <p:cNvGraphicFramePr>
            <a:graphicFrameLocks noGrp="1"/>
          </p:cNvGraphicFramePr>
          <p:nvPr/>
        </p:nvGraphicFramePr>
        <p:xfrm>
          <a:off x="900000" y="1450000"/>
          <a:ext cx="10390000" cy="5280000"/>
        </p:xfrm>
        <a:graphic>
          <a:graphicData uri="http://schemas.openxmlformats.org/drawingml/2006/table">
            <a:tbl>
              <a:tblPr firstRow="1" bandRow="1">
                <a:tableStyleId>{5C22544A-7EE6-4342-B048-85BDC9FD1C3A}</a:tableStyleId>
              </a:tblPr>
              <a:tblGrid>
                <a:gridCol w="560000">
                  <a:extLst>
                    <a:ext uri="{9D8B030D-6E8A-4147-A177-3AD203B41FA5}">
                      <a16:colId xmlns:a16="http://schemas.microsoft.com/office/drawing/2014/main" val="20000"/>
                    </a:ext>
                  </a:extLst>
                </a:gridCol>
                <a:gridCol w="2600000">
                  <a:extLst>
                    <a:ext uri="{9D8B030D-6E8A-4147-A177-3AD203B41FA5}">
                      <a16:colId xmlns:a16="http://schemas.microsoft.com/office/drawing/2014/main" val="20001"/>
                    </a:ext>
                  </a:extLst>
                </a:gridCol>
                <a:gridCol w="7230000">
                  <a:extLst>
                    <a:ext uri="{9D8B030D-6E8A-4147-A177-3AD203B41FA5}">
                      <a16:colId xmlns:a16="http://schemas.microsoft.com/office/drawing/2014/main" val="20002"/>
                    </a:ext>
                  </a:extLst>
                </a:gridCol>
              </a:tblGrid>
              <a:tr h="880000">
                <a:tc>
                  <a:txBody>
                    <a:bodyPr/>
                    <a:lstStyle/>
                    <a:p>
                      <a:r>
                        <a:rPr sz="1300" b="1" i="0">
                          <a:solidFill>
                            <a:srgbClr val="000000"/>
                          </a:solidFill>
                          <a:latin typeface="Times New Roman"/>
                        </a:rPr>
                        <a:t>#</a:t>
                      </a:r>
                    </a:p>
                  </a:txBody>
                  <a:tcPr marL="54864" marR="54864" marT="18288" marB="18288" anchor="ctr">
                    <a:solidFill>
                      <a:srgbClr val="FFFF00"/>
                    </a:solidFill>
                  </a:tcPr>
                </a:tc>
                <a:tc>
                  <a:txBody>
                    <a:bodyPr/>
                    <a:lstStyle/>
                    <a:p>
                      <a:r>
                        <a:rPr sz="1300" b="1" i="0">
                          <a:solidFill>
                            <a:srgbClr val="000000"/>
                          </a:solidFill>
                          <a:latin typeface="Times New Roman"/>
                        </a:rPr>
                        <a:t>Feature</a:t>
                      </a:r>
                    </a:p>
                  </a:txBody>
                  <a:tcPr marL="54864" marR="54864" marT="18288" marB="18288" anchor="ctr">
                    <a:solidFill>
                      <a:srgbClr val="FFFF00"/>
                    </a:solidFill>
                  </a:tcPr>
                </a:tc>
                <a:tc>
                  <a:txBody>
                    <a:bodyPr/>
                    <a:lstStyle/>
                    <a:p>
                      <a:r>
                        <a:rPr sz="1300" b="1" i="0">
                          <a:solidFill>
                            <a:srgbClr val="000000"/>
                          </a:solidFill>
                          <a:latin typeface="Times New Roman"/>
                        </a:rPr>
                        <a:t>What it does</a:t>
                      </a:r>
                    </a:p>
                  </a:txBody>
                  <a:tcPr marL="54864" marR="54864" marT="18288" marB="18288" anchor="ctr">
                    <a:solidFill>
                      <a:srgbClr val="FFFF00"/>
                    </a:solidFill>
                  </a:tcPr>
                </a:tc>
                <a:extLst>
                  <a:ext uri="{0D108BD9-81ED-4DB2-BD59-A6C34878D82A}">
                    <a16:rowId xmlns:a16="http://schemas.microsoft.com/office/drawing/2014/main" val="10000"/>
                  </a:ext>
                </a:extLst>
              </a:tr>
              <a:tr h="880000">
                <a:tc>
                  <a:txBody>
                    <a:bodyPr/>
                    <a:lstStyle/>
                    <a:p>
                      <a:r>
                        <a:rPr sz="1300" b="0" i="0">
                          <a:solidFill>
                            <a:srgbClr val="000000"/>
                          </a:solidFill>
                          <a:latin typeface="Times New Roman"/>
                        </a:rPr>
                        <a:t>6</a:t>
                      </a:r>
                    </a:p>
                  </a:txBody>
                  <a:tcPr marL="54864" marR="54864" marT="18288" marB="18288" anchor="ctr">
                    <a:solidFill>
                      <a:srgbClr val="FFFFFF"/>
                    </a:solidFill>
                  </a:tcPr>
                </a:tc>
                <a:tc>
                  <a:txBody>
                    <a:bodyPr/>
                    <a:lstStyle/>
                    <a:p>
                      <a:r>
                        <a:rPr sz="1300" b="0" i="0">
                          <a:solidFill>
                            <a:srgbClr val="000000"/>
                          </a:solidFill>
                          <a:latin typeface="Times New Roman"/>
                        </a:rPr>
                        <a:t>Snooze-pattern detection</a:t>
                      </a:r>
                    </a:p>
                  </a:txBody>
                  <a:tcPr marL="54864" marR="54864" marT="18288" marB="18288" anchor="ctr">
                    <a:solidFill>
                      <a:srgbClr val="FFFFFF"/>
                    </a:solidFill>
                  </a:tcPr>
                </a:tc>
                <a:tc>
                  <a:txBody>
                    <a:bodyPr/>
                    <a:lstStyle/>
                    <a:p>
                      <a:r>
                        <a:rPr sz="1300" b="0" i="0">
                          <a:solidFill>
                            <a:srgbClr val="000000"/>
                          </a:solidFill>
                          <a:latin typeface="Times New Roman"/>
                        </a:rPr>
                        <a:t>After repeated snoozes on one task, SAGE prompts the student to reschedule instead of re-alerting indefinitely.</a:t>
                      </a:r>
                    </a:p>
                  </a:txBody>
                  <a:tcPr marL="54864" marR="54864" marT="18288" marB="18288" anchor="ctr">
                    <a:solidFill>
                      <a:srgbClr val="FFFFFF"/>
                    </a:solidFill>
                  </a:tcPr>
                </a:tc>
                <a:extLst>
                  <a:ext uri="{0D108BD9-81ED-4DB2-BD59-A6C34878D82A}">
                    <a16:rowId xmlns:a16="http://schemas.microsoft.com/office/drawing/2014/main" val="10001"/>
                  </a:ext>
                </a:extLst>
              </a:tr>
              <a:tr h="880000">
                <a:tc>
                  <a:txBody>
                    <a:bodyPr/>
                    <a:lstStyle/>
                    <a:p>
                      <a:r>
                        <a:rPr sz="1300" b="0" i="0">
                          <a:solidFill>
                            <a:srgbClr val="000000"/>
                          </a:solidFill>
                          <a:latin typeface="Times New Roman"/>
                        </a:rPr>
                        <a:t>7</a:t>
                      </a:r>
                    </a:p>
                  </a:txBody>
                  <a:tcPr marL="54864" marR="54864" marT="18288" marB="18288" anchor="ctr">
                    <a:solidFill>
                      <a:srgbClr val="FFFFFF"/>
                    </a:solidFill>
                  </a:tcPr>
                </a:tc>
                <a:tc>
                  <a:txBody>
                    <a:bodyPr/>
                    <a:lstStyle/>
                    <a:p>
                      <a:r>
                        <a:rPr sz="1300" b="0" i="0">
                          <a:solidFill>
                            <a:srgbClr val="000000"/>
                          </a:solidFill>
                          <a:latin typeface="Times New Roman"/>
                        </a:rPr>
                        <a:t>Codeforces contest sync</a:t>
                      </a:r>
                    </a:p>
                  </a:txBody>
                  <a:tcPr marL="54864" marR="54864" marT="18288" marB="18288" anchor="ctr">
                    <a:solidFill>
                      <a:srgbClr val="FFFFFF"/>
                    </a:solidFill>
                  </a:tcPr>
                </a:tc>
                <a:tc>
                  <a:txBody>
                    <a:bodyPr/>
                    <a:lstStyle/>
                    <a:p>
                      <a:r>
                        <a:rPr sz="1300" b="0" i="0">
                          <a:solidFill>
                            <a:srgbClr val="000000"/>
                          </a:solidFill>
                          <a:latin typeface="Times New Roman"/>
                        </a:rPr>
                        <a:t>Upcoming contests pulled through the official API and injected into the plan as fixed-time events.</a:t>
                      </a:r>
                    </a:p>
                  </a:txBody>
                  <a:tcPr marL="54864" marR="54864" marT="18288" marB="18288" anchor="ctr">
                    <a:solidFill>
                      <a:srgbClr val="FFFFFF"/>
                    </a:solidFill>
                  </a:tcPr>
                </a:tc>
                <a:extLst>
                  <a:ext uri="{0D108BD9-81ED-4DB2-BD59-A6C34878D82A}">
                    <a16:rowId xmlns:a16="http://schemas.microsoft.com/office/drawing/2014/main" val="10002"/>
                  </a:ext>
                </a:extLst>
              </a:tr>
              <a:tr h="880000">
                <a:tc>
                  <a:txBody>
                    <a:bodyPr/>
                    <a:lstStyle/>
                    <a:p>
                      <a:r>
                        <a:rPr sz="1300" b="0" i="0">
                          <a:solidFill>
                            <a:srgbClr val="000000"/>
                          </a:solidFill>
                          <a:latin typeface="Times New Roman"/>
                        </a:rPr>
                        <a:t>8</a:t>
                      </a:r>
                    </a:p>
                  </a:txBody>
                  <a:tcPr marL="54864" marR="54864" marT="18288" marB="18288" anchor="ctr">
                    <a:solidFill>
                      <a:srgbClr val="FFFFFF"/>
                    </a:solidFill>
                  </a:tcPr>
                </a:tc>
                <a:tc>
                  <a:txBody>
                    <a:bodyPr/>
                    <a:lstStyle/>
                    <a:p>
                      <a:r>
                        <a:rPr sz="1300" b="0" i="0">
                          <a:solidFill>
                            <a:srgbClr val="000000"/>
                          </a:solidFill>
                          <a:latin typeface="Times New Roman"/>
                        </a:rPr>
                        <a:t>Google Calendar sync</a:t>
                      </a:r>
                    </a:p>
                  </a:txBody>
                  <a:tcPr marL="54864" marR="54864" marT="18288" marB="18288" anchor="ctr">
                    <a:solidFill>
                      <a:srgbClr val="FFFFFF"/>
                    </a:solidFill>
                  </a:tcPr>
                </a:tc>
                <a:tc>
                  <a:txBody>
                    <a:bodyPr/>
                    <a:lstStyle/>
                    <a:p>
                      <a:r>
                        <a:rPr sz="1300" b="0" i="0">
                          <a:solidFill>
                            <a:srgbClr val="000000"/>
                          </a:solidFill>
                          <a:latin typeface="Times New Roman"/>
                        </a:rPr>
                        <a:t>Classes and labs pulled as fixed commitments, so real available hours are computed rather than guessed.</a:t>
                      </a:r>
                    </a:p>
                  </a:txBody>
                  <a:tcPr marL="54864" marR="54864" marT="18288" marB="18288" anchor="ctr">
                    <a:solidFill>
                      <a:srgbClr val="FFFFFF"/>
                    </a:solidFill>
                  </a:tcPr>
                </a:tc>
                <a:extLst>
                  <a:ext uri="{0D108BD9-81ED-4DB2-BD59-A6C34878D82A}">
                    <a16:rowId xmlns:a16="http://schemas.microsoft.com/office/drawing/2014/main" val="10003"/>
                  </a:ext>
                </a:extLst>
              </a:tr>
              <a:tr h="880000">
                <a:tc>
                  <a:txBody>
                    <a:bodyPr/>
                    <a:lstStyle/>
                    <a:p>
                      <a:r>
                        <a:rPr sz="1300" b="0" i="0">
                          <a:solidFill>
                            <a:srgbClr val="000000"/>
                          </a:solidFill>
                          <a:latin typeface="Times New Roman"/>
                        </a:rPr>
                        <a:t>9</a:t>
                      </a:r>
                    </a:p>
                  </a:txBody>
                  <a:tcPr marL="54864" marR="54864" marT="18288" marB="18288" anchor="ctr">
                    <a:solidFill>
                      <a:srgbClr val="FFFFFF"/>
                    </a:solidFill>
                  </a:tcPr>
                </a:tc>
                <a:tc>
                  <a:txBody>
                    <a:bodyPr/>
                    <a:lstStyle/>
                    <a:p>
                      <a:r>
                        <a:rPr sz="1300" b="0" i="0">
                          <a:solidFill>
                            <a:srgbClr val="000000"/>
                          </a:solidFill>
                          <a:latin typeface="Times New Roman"/>
                        </a:rPr>
                        <a:t>SAGE Brain (Q&amp;A)</a:t>
                      </a:r>
                    </a:p>
                  </a:txBody>
                  <a:tcPr marL="54864" marR="54864" marT="18288" marB="18288" anchor="ctr">
                    <a:solidFill>
                      <a:srgbClr val="FFFFFF"/>
                    </a:solidFill>
                  </a:tcPr>
                </a:tc>
                <a:tc>
                  <a:txBody>
                    <a:bodyPr/>
                    <a:lstStyle/>
                    <a:p>
                      <a:r>
                        <a:rPr sz="1300" b="0" i="0">
                          <a:solidFill>
                            <a:srgbClr val="000000"/>
                          </a:solidFill>
                          <a:latin typeface="Times New Roman"/>
                        </a:rPr>
                        <a:t>Natural-language questions answered from the student's own live task, schedule and contest data — never general knowledge.</a:t>
                      </a:r>
                    </a:p>
                  </a:txBody>
                  <a:tcPr marL="54864" marR="54864" marT="18288" marB="18288" anchor="ctr">
                    <a:solidFill>
                      <a:srgbClr val="FFFFFF"/>
                    </a:solidFill>
                  </a:tcPr>
                </a:tc>
                <a:extLst>
                  <a:ext uri="{0D108BD9-81ED-4DB2-BD59-A6C34878D82A}">
                    <a16:rowId xmlns:a16="http://schemas.microsoft.com/office/drawing/2014/main" val="10004"/>
                  </a:ext>
                </a:extLst>
              </a:tr>
              <a:tr h="880000">
                <a:tc>
                  <a:txBody>
                    <a:bodyPr/>
                    <a:lstStyle/>
                    <a:p>
                      <a:r>
                        <a:rPr sz="1300" b="0" i="0">
                          <a:solidFill>
                            <a:srgbClr val="000000"/>
                          </a:solidFill>
                          <a:latin typeface="Times New Roman"/>
                        </a:rPr>
                        <a:t>10</a:t>
                      </a:r>
                    </a:p>
                  </a:txBody>
                  <a:tcPr marL="54864" marR="54864" marT="18288" marB="18288" anchor="ctr">
                    <a:solidFill>
                      <a:srgbClr val="FFFFFF"/>
                    </a:solidFill>
                  </a:tcPr>
                </a:tc>
                <a:tc>
                  <a:txBody>
                    <a:bodyPr/>
                    <a:lstStyle/>
                    <a:p>
                      <a:r>
                        <a:rPr sz="1300" b="0" i="0">
                          <a:solidFill>
                            <a:srgbClr val="000000"/>
                          </a:solidFill>
                          <a:latin typeface="Times New Roman"/>
                        </a:rPr>
                        <a:t>Contest and task reminders</a:t>
                      </a:r>
                    </a:p>
                  </a:txBody>
                  <a:tcPr marL="54864" marR="54864" marT="18288" marB="18288" anchor="ctr">
                    <a:solidFill>
                      <a:srgbClr val="FFFFFF"/>
                    </a:solidFill>
                  </a:tcPr>
                </a:tc>
                <a:tc>
                  <a:txBody>
                    <a:bodyPr/>
                    <a:lstStyle/>
                    <a:p>
                      <a:r>
                        <a:rPr sz="1300" b="0" i="0">
                          <a:solidFill>
                            <a:srgbClr val="000000"/>
                          </a:solidFill>
                          <a:latin typeface="Times New Roman"/>
                        </a:rPr>
                        <a:t>Configurable lead-time notifications (e.g. 60 minutes before a contest, morning nudge for a recurring goal).</a:t>
                      </a:r>
                    </a:p>
                  </a:txBody>
                  <a:tcPr marL="54864" marR="54864" marT="18288" marB="18288"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a:latin typeface="Times New Roman"/>
              </a:rPr>
              <a:t>Explicitly Cut from MVP</a:t>
            </a:r>
          </a:p>
        </p:txBody>
      </p:sp>
      <p:graphicFrame>
        <p:nvGraphicFramePr>
          <p:cNvPr id="4" name="Table 3"/>
          <p:cNvGraphicFramePr>
            <a:graphicFrameLocks noGrp="1"/>
          </p:cNvGraphicFramePr>
          <p:nvPr/>
        </p:nvGraphicFramePr>
        <p:xfrm>
          <a:off x="900000" y="1420000"/>
          <a:ext cx="10390000" cy="4480000"/>
        </p:xfrm>
        <a:graphic>
          <a:graphicData uri="http://schemas.openxmlformats.org/drawingml/2006/table">
            <a:tbl>
              <a:tblPr firstRow="1" bandRow="1">
                <a:tableStyleId>{5C22544A-7EE6-4342-B048-85BDC9FD1C3A}</a:tableStyleId>
              </a:tblPr>
              <a:tblGrid>
                <a:gridCol w="3600000">
                  <a:extLst>
                    <a:ext uri="{9D8B030D-6E8A-4147-A177-3AD203B41FA5}">
                      <a16:colId xmlns:a16="http://schemas.microsoft.com/office/drawing/2014/main" val="20000"/>
                    </a:ext>
                  </a:extLst>
                </a:gridCol>
                <a:gridCol w="6790000">
                  <a:extLst>
                    <a:ext uri="{9D8B030D-6E8A-4147-A177-3AD203B41FA5}">
                      <a16:colId xmlns:a16="http://schemas.microsoft.com/office/drawing/2014/main" val="20001"/>
                    </a:ext>
                  </a:extLst>
                </a:gridCol>
              </a:tblGrid>
              <a:tr h="560000">
                <a:tc>
                  <a:txBody>
                    <a:bodyPr/>
                    <a:lstStyle/>
                    <a:p>
                      <a:r>
                        <a:rPr sz="1200" b="1" i="0">
                          <a:solidFill>
                            <a:srgbClr val="000000"/>
                          </a:solidFill>
                          <a:latin typeface="Times New Roman"/>
                        </a:rPr>
                        <a:t>Cut from MVP</a:t>
                      </a:r>
                    </a:p>
                  </a:txBody>
                  <a:tcPr marL="54864" marR="54864" marT="18288" marB="18288" anchor="ctr">
                    <a:solidFill>
                      <a:srgbClr val="FFFF00"/>
                    </a:solidFill>
                  </a:tcPr>
                </a:tc>
                <a:tc>
                  <a:txBody>
                    <a:bodyPr/>
                    <a:lstStyle/>
                    <a:p>
                      <a:r>
                        <a:rPr sz="1200" b="1" i="0">
                          <a:solidFill>
                            <a:srgbClr val="000000"/>
                          </a:solidFill>
                          <a:latin typeface="Times New Roman"/>
                        </a:rPr>
                        <a:t>Reason</a:t>
                      </a:r>
                    </a:p>
                  </a:txBody>
                  <a:tcPr marL="54864" marR="54864" marT="18288" marB="18288" anchor="ctr">
                    <a:solidFill>
                      <a:srgbClr val="FFFF00"/>
                    </a:solidFill>
                  </a:tcPr>
                </a:tc>
                <a:extLst>
                  <a:ext uri="{0D108BD9-81ED-4DB2-BD59-A6C34878D82A}">
                    <a16:rowId xmlns:a16="http://schemas.microsoft.com/office/drawing/2014/main" val="10000"/>
                  </a:ext>
                </a:extLst>
              </a:tr>
              <a:tr h="560000">
                <a:tc>
                  <a:txBody>
                    <a:bodyPr/>
                    <a:lstStyle/>
                    <a:p>
                      <a:r>
                        <a:rPr sz="1200" b="0" i="0">
                          <a:solidFill>
                            <a:srgbClr val="000000"/>
                          </a:solidFill>
                          <a:latin typeface="Times New Roman"/>
                        </a:rPr>
                        <a:t>LeetCode live integration</a:t>
                      </a:r>
                    </a:p>
                  </a:txBody>
                  <a:tcPr marL="54864" marR="54864" marT="18288" marB="18288" anchor="ctr">
                    <a:solidFill>
                      <a:srgbClr val="FFFFFF"/>
                    </a:solidFill>
                  </a:tcPr>
                </a:tc>
                <a:tc>
                  <a:txBody>
                    <a:bodyPr/>
                    <a:lstStyle/>
                    <a:p>
                      <a:r>
                        <a:rPr sz="1200" b="0" i="0">
                          <a:solidFill>
                            <a:srgbClr val="000000"/>
                          </a:solidFill>
                          <a:latin typeface="Times New Roman"/>
                        </a:rPr>
                        <a:t>No official public API — only unofficial, undocumented endpoints exist.</a:t>
                      </a:r>
                    </a:p>
                  </a:txBody>
                  <a:tcPr marL="54864" marR="54864" marT="18288" marB="18288" anchor="ctr">
                    <a:solidFill>
                      <a:srgbClr val="FFFFFF"/>
                    </a:solidFill>
                  </a:tcPr>
                </a:tc>
                <a:extLst>
                  <a:ext uri="{0D108BD9-81ED-4DB2-BD59-A6C34878D82A}">
                    <a16:rowId xmlns:a16="http://schemas.microsoft.com/office/drawing/2014/main" val="10001"/>
                  </a:ext>
                </a:extLst>
              </a:tr>
              <a:tr h="560000">
                <a:tc>
                  <a:txBody>
                    <a:bodyPr/>
                    <a:lstStyle/>
                    <a:p>
                      <a:r>
                        <a:rPr sz="1200" b="0" i="0">
                          <a:solidFill>
                            <a:srgbClr val="000000"/>
                          </a:solidFill>
                          <a:latin typeface="Times New Roman"/>
                        </a:rPr>
                        <a:t>CodeChef live integration</a:t>
                      </a:r>
                    </a:p>
                  </a:txBody>
                  <a:tcPr marL="54864" marR="54864" marT="18288" marB="18288" anchor="ctr">
                    <a:solidFill>
                      <a:srgbClr val="FFFFFF"/>
                    </a:solidFill>
                  </a:tcPr>
                </a:tc>
                <a:tc>
                  <a:txBody>
                    <a:bodyPr/>
                    <a:lstStyle/>
                    <a:p>
                      <a:r>
                        <a:rPr sz="1200" b="0" i="0">
                          <a:solidFill>
                            <a:srgbClr val="000000"/>
                          </a:solidFill>
                          <a:latin typeface="Times New Roman"/>
                        </a:rPr>
                        <a:t>Official API needs approval and is unreliable for a student project; shipped as a stubbed, disabled-by-default provider.</a:t>
                      </a:r>
                    </a:p>
                  </a:txBody>
                  <a:tcPr marL="54864" marR="54864" marT="18288" marB="18288" anchor="ctr">
                    <a:solidFill>
                      <a:srgbClr val="FFFFFF"/>
                    </a:solidFill>
                  </a:tcPr>
                </a:tc>
                <a:extLst>
                  <a:ext uri="{0D108BD9-81ED-4DB2-BD59-A6C34878D82A}">
                    <a16:rowId xmlns:a16="http://schemas.microsoft.com/office/drawing/2014/main" val="10002"/>
                  </a:ext>
                </a:extLst>
              </a:tr>
              <a:tr h="560000">
                <a:tc>
                  <a:txBody>
                    <a:bodyPr/>
                    <a:lstStyle/>
                    <a:p>
                      <a:r>
                        <a:rPr sz="1200" b="0" i="0">
                          <a:solidFill>
                            <a:srgbClr val="000000"/>
                          </a:solidFill>
                          <a:latin typeface="Times New Roman"/>
                        </a:rPr>
                        <a:t>AtCoder live integration</a:t>
                      </a:r>
                    </a:p>
                  </a:txBody>
                  <a:tcPr marL="54864" marR="54864" marT="18288" marB="18288" anchor="ctr">
                    <a:solidFill>
                      <a:srgbClr val="FFFFFF"/>
                    </a:solidFill>
                  </a:tcPr>
                </a:tc>
                <a:tc>
                  <a:txBody>
                    <a:bodyPr/>
                    <a:lstStyle/>
                    <a:p>
                      <a:r>
                        <a:rPr sz="1200" b="0" i="0">
                          <a:solidFill>
                            <a:srgbClr val="000000"/>
                          </a:solidFill>
                          <a:latin typeface="Times New Roman"/>
                        </a:rPr>
                        <a:t>No official API; only a community-run one — optional stretch, clearly labelled unofficial.</a:t>
                      </a:r>
                    </a:p>
                  </a:txBody>
                  <a:tcPr marL="54864" marR="54864" marT="18288" marB="18288" anchor="ctr">
                    <a:solidFill>
                      <a:srgbClr val="FFFFFF"/>
                    </a:solidFill>
                  </a:tcPr>
                </a:tc>
                <a:extLst>
                  <a:ext uri="{0D108BD9-81ED-4DB2-BD59-A6C34878D82A}">
                    <a16:rowId xmlns:a16="http://schemas.microsoft.com/office/drawing/2014/main" val="10003"/>
                  </a:ext>
                </a:extLst>
              </a:tr>
              <a:tr h="560000">
                <a:tc>
                  <a:txBody>
                    <a:bodyPr/>
                    <a:lstStyle/>
                    <a:p>
                      <a:r>
                        <a:rPr sz="1200" b="0" i="0">
                          <a:solidFill>
                            <a:srgbClr val="000000"/>
                          </a:solidFill>
                          <a:latin typeface="Times New Roman"/>
                        </a:rPr>
                        <a:t>Task dependencies</a:t>
                      </a:r>
                    </a:p>
                  </a:txBody>
                  <a:tcPr marL="54864" marR="54864" marT="18288" marB="18288" anchor="ctr">
                    <a:solidFill>
                      <a:srgbClr val="FFFFFF"/>
                    </a:solidFill>
                  </a:tcPr>
                </a:tc>
                <a:tc>
                  <a:txBody>
                    <a:bodyPr/>
                    <a:lstStyle/>
                    <a:p>
                      <a:r>
                        <a:rPr sz="1200" b="0" i="0">
                          <a:solidFill>
                            <a:srgbClr val="000000"/>
                          </a:solidFill>
                          <a:latin typeface="Times New Roman"/>
                        </a:rPr>
                        <a:t>Project-management-level complexity disproportionate to this scope.</a:t>
                      </a:r>
                    </a:p>
                  </a:txBody>
                  <a:tcPr marL="54864" marR="54864" marT="18288" marB="18288" anchor="ctr">
                    <a:solidFill>
                      <a:srgbClr val="FFFFFF"/>
                    </a:solidFill>
                  </a:tcPr>
                </a:tc>
                <a:extLst>
                  <a:ext uri="{0D108BD9-81ED-4DB2-BD59-A6C34878D82A}">
                    <a16:rowId xmlns:a16="http://schemas.microsoft.com/office/drawing/2014/main" val="10004"/>
                  </a:ext>
                </a:extLst>
              </a:tr>
              <a:tr h="560000">
                <a:tc>
                  <a:txBody>
                    <a:bodyPr/>
                    <a:lstStyle/>
                    <a:p>
                      <a:r>
                        <a:rPr sz="1200" b="0" i="0">
                          <a:solidFill>
                            <a:srgbClr val="000000"/>
                          </a:solidFill>
                          <a:latin typeface="Times New Roman"/>
                        </a:rPr>
                        <a:t>Career-relevance scoring</a:t>
                      </a:r>
                    </a:p>
                  </a:txBody>
                  <a:tcPr marL="54864" marR="54864" marT="18288" marB="18288" anchor="ctr">
                    <a:solidFill>
                      <a:srgbClr val="FFFFFF"/>
                    </a:solidFill>
                  </a:tcPr>
                </a:tc>
                <a:tc>
                  <a:txBody>
                    <a:bodyPr/>
                    <a:lstStyle/>
                    <a:p>
                      <a:r>
                        <a:rPr sz="1200" b="0" i="0">
                          <a:solidFill>
                            <a:srgbClr val="000000"/>
                          </a:solidFill>
                          <a:latin typeface="Times New Roman"/>
                        </a:rPr>
                        <a:t>Reduces to a simple tag rather than a modelled subsystem.</a:t>
                      </a:r>
                    </a:p>
                  </a:txBody>
                  <a:tcPr marL="54864" marR="54864" marT="18288" marB="18288" anchor="ctr">
                    <a:solidFill>
                      <a:srgbClr val="FFFFFF"/>
                    </a:solidFill>
                  </a:tcPr>
                </a:tc>
                <a:extLst>
                  <a:ext uri="{0D108BD9-81ED-4DB2-BD59-A6C34878D82A}">
                    <a16:rowId xmlns:a16="http://schemas.microsoft.com/office/drawing/2014/main" val="10005"/>
                  </a:ext>
                </a:extLst>
              </a:tr>
              <a:tr h="560000">
                <a:tc>
                  <a:txBody>
                    <a:bodyPr/>
                    <a:lstStyle/>
                    <a:p>
                      <a:r>
                        <a:rPr sz="1200" b="0" i="0">
                          <a:solidFill>
                            <a:srgbClr val="000000"/>
                          </a:solidFill>
                          <a:latin typeface="Times New Roman"/>
                        </a:rPr>
                        <a:t>Peer benchmarking</a:t>
                      </a:r>
                    </a:p>
                  </a:txBody>
                  <a:tcPr marL="54864" marR="54864" marT="18288" marB="18288" anchor="ctr">
                    <a:solidFill>
                      <a:srgbClr val="FFFFFF"/>
                    </a:solidFill>
                  </a:tcPr>
                </a:tc>
                <a:tc>
                  <a:txBody>
                    <a:bodyPr/>
                    <a:lstStyle/>
                    <a:p>
                      <a:r>
                        <a:rPr sz="1200" b="0" i="0">
                          <a:solidFill>
                            <a:srgbClr val="000000"/>
                          </a:solidFill>
                          <a:latin typeface="Times New Roman"/>
                        </a:rPr>
                        <a:t>Requires an aggregate data pipeline that is not feasible in one semester.</a:t>
                      </a:r>
                    </a:p>
                  </a:txBody>
                  <a:tcPr marL="54864" marR="54864" marT="18288" marB="18288" anchor="ctr">
                    <a:solidFill>
                      <a:srgbClr val="FFFFFF"/>
                    </a:solidFill>
                  </a:tcPr>
                </a:tc>
                <a:extLst>
                  <a:ext uri="{0D108BD9-81ED-4DB2-BD59-A6C34878D82A}">
                    <a16:rowId xmlns:a16="http://schemas.microsoft.com/office/drawing/2014/main" val="10006"/>
                  </a:ext>
                </a:extLst>
              </a:tr>
              <a:tr h="560000">
                <a:tc>
                  <a:txBody>
                    <a:bodyPr/>
                    <a:lstStyle/>
                    <a:p>
                      <a:r>
                        <a:rPr sz="1200" b="0" i="0">
                          <a:solidFill>
                            <a:srgbClr val="000000"/>
                          </a:solidFill>
                          <a:latin typeface="Times New Roman"/>
                        </a:rPr>
                        <a:t>Admin / instructor dashboard</a:t>
                      </a:r>
                    </a:p>
                  </a:txBody>
                  <a:tcPr marL="54864" marR="54864" marT="18288" marB="18288" anchor="ctr">
                    <a:solidFill>
                      <a:srgbClr val="FFFFFF"/>
                    </a:solidFill>
                  </a:tcPr>
                </a:tc>
                <a:tc>
                  <a:txBody>
                    <a:bodyPr/>
                    <a:lstStyle/>
                    <a:p>
                      <a:r>
                        <a:rPr sz="1200" b="0" i="0">
                          <a:solidFill>
                            <a:srgbClr val="000000"/>
                          </a:solidFill>
                          <a:latin typeface="Times New Roman"/>
                        </a:rPr>
                        <a:t>Not core to the single-user student value proposition.</a:t>
                      </a:r>
                    </a:p>
                  </a:txBody>
                  <a:tcPr marL="54864" marR="54864" marT="18288" marB="18288" anchor="ctr">
                    <a:solidFill>
                      <a:srgbClr val="FFFFFF"/>
                    </a:solidFill>
                  </a:tcPr>
                </a:tc>
                <a:extLst>
                  <a:ext uri="{0D108BD9-81ED-4DB2-BD59-A6C34878D82A}">
                    <a16:rowId xmlns:a16="http://schemas.microsoft.com/office/drawing/2014/main" val="10007"/>
                  </a:ext>
                </a:extLst>
              </a:tr>
            </a:tbl>
          </a:graphicData>
        </a:graphic>
      </p:graphicFrame>
      <p:sp>
        <p:nvSpPr>
          <p:cNvPr id="5" name="TextBox 4"/>
          <p:cNvSpPr txBox="1"/>
          <p:nvPr/>
        </p:nvSpPr>
        <p:spPr>
          <a:xfrm>
            <a:off x="900000" y="5960000"/>
            <a:ext cx="10400000" cy="300000"/>
          </a:xfrm>
          <a:prstGeom prst="rect">
            <a:avLst/>
          </a:prstGeom>
          <a:noFill/>
        </p:spPr>
        <p:txBody>
          <a:bodyPr wrap="square">
            <a:spAutoFit/>
          </a:bodyPr>
          <a:lstStyle/>
          <a:p>
            <a:pPr algn="ctr"/>
            <a:r>
              <a:rPr sz="1400" b="0" i="1">
                <a:solidFill>
                  <a:srgbClr val="202020"/>
                </a:solidFill>
                <a:latin typeface="Times New Roman"/>
              </a:rPr>
              <a:t>The MVP list is final. New ideas go to a backlog, not into the current sprint.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a:latin typeface="Times New Roman"/>
              </a:rPr>
              <a:t>Core Product Loop</a:t>
            </a:r>
          </a:p>
        </p:txBody>
      </p:sp>
      <p:pic>
        <p:nvPicPr>
          <p:cNvPr id="4" name="Picture 3" descr="fig_loop.png"/>
          <p:cNvPicPr>
            <a:picLocks noChangeAspect="1"/>
          </p:cNvPicPr>
          <p:nvPr/>
        </p:nvPicPr>
        <p:blipFill>
          <a:blip r:embed="rId3"/>
          <a:stretch>
            <a:fillRect/>
          </a:stretch>
        </p:blipFill>
        <p:spPr>
          <a:xfrm>
            <a:off x="2348367" y="1240000"/>
            <a:ext cx="7503265" cy="4960000"/>
          </a:xfrm>
          <a:prstGeom prst="rect">
            <a:avLst/>
          </a:prstGeom>
        </p:spPr>
      </p:pic>
      <p:sp>
        <p:nvSpPr>
          <p:cNvPr id="5" name="TextBox 4"/>
          <p:cNvSpPr txBox="1"/>
          <p:nvPr/>
        </p:nvSpPr>
        <p:spPr>
          <a:xfrm>
            <a:off x="900000" y="6280000"/>
            <a:ext cx="10400000" cy="300000"/>
          </a:xfrm>
          <a:prstGeom prst="rect">
            <a:avLst/>
          </a:prstGeom>
          <a:noFill/>
        </p:spPr>
        <p:txBody>
          <a:bodyPr wrap="square">
            <a:spAutoFit/>
          </a:bodyPr>
          <a:lstStyle/>
          <a:p>
            <a:pPr algn="ctr"/>
            <a:r>
              <a:rPr sz="1400" b="0" i="1">
                <a:solidFill>
                  <a:srgbClr val="202020"/>
                </a:solidFill>
                <a:latin typeface="Times New Roman"/>
              </a:rPr>
              <a:t>Figure 2 — The adaptive loop is the project's central product and technical claim; every other feature exists to feed or surface it.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a:latin typeface="Times New Roman"/>
              </a:rPr>
              <a:t>System Architecture — Microservices</a:t>
            </a:r>
          </a:p>
        </p:txBody>
      </p:sp>
      <p:graphicFrame>
        <p:nvGraphicFramePr>
          <p:cNvPr id="4" name="Table 3"/>
          <p:cNvGraphicFramePr>
            <a:graphicFrameLocks noGrp="1"/>
          </p:cNvGraphicFramePr>
          <p:nvPr/>
        </p:nvGraphicFramePr>
        <p:xfrm>
          <a:off x="900000" y="1420000"/>
          <a:ext cx="10400000" cy="3720000"/>
        </p:xfrm>
        <a:graphic>
          <a:graphicData uri="http://schemas.openxmlformats.org/drawingml/2006/table">
            <a:tbl>
              <a:tblPr firstRow="1" bandRow="1">
                <a:tableStyleId>{5C22544A-7EE6-4342-B048-85BDC9FD1C3A}</a:tableStyleId>
              </a:tblPr>
              <a:tblGrid>
                <a:gridCol w="2700000">
                  <a:extLst>
                    <a:ext uri="{9D8B030D-6E8A-4147-A177-3AD203B41FA5}">
                      <a16:colId xmlns:a16="http://schemas.microsoft.com/office/drawing/2014/main" val="20000"/>
                    </a:ext>
                  </a:extLst>
                </a:gridCol>
                <a:gridCol w="5000000">
                  <a:extLst>
                    <a:ext uri="{9D8B030D-6E8A-4147-A177-3AD203B41FA5}">
                      <a16:colId xmlns:a16="http://schemas.microsoft.com/office/drawing/2014/main" val="20001"/>
                    </a:ext>
                  </a:extLst>
                </a:gridCol>
                <a:gridCol w="1700000">
                  <a:extLst>
                    <a:ext uri="{9D8B030D-6E8A-4147-A177-3AD203B41FA5}">
                      <a16:colId xmlns:a16="http://schemas.microsoft.com/office/drawing/2014/main" val="20002"/>
                    </a:ext>
                  </a:extLst>
                </a:gridCol>
                <a:gridCol w="1000000">
                  <a:extLst>
                    <a:ext uri="{9D8B030D-6E8A-4147-A177-3AD203B41FA5}">
                      <a16:colId xmlns:a16="http://schemas.microsoft.com/office/drawing/2014/main" val="20003"/>
                    </a:ext>
                  </a:extLst>
                </a:gridCol>
              </a:tblGrid>
              <a:tr h="620000">
                <a:tc>
                  <a:txBody>
                    <a:bodyPr/>
                    <a:lstStyle/>
                    <a:p>
                      <a:r>
                        <a:rPr sz="1150" b="1" i="0">
                          <a:solidFill>
                            <a:srgbClr val="000000"/>
                          </a:solidFill>
                          <a:latin typeface="Times New Roman"/>
                        </a:rPr>
                        <a:t>Service</a:t>
                      </a:r>
                    </a:p>
                  </a:txBody>
                  <a:tcPr marL="54864" marR="54864" marT="18288" marB="18288" anchor="ctr">
                    <a:solidFill>
                      <a:srgbClr val="FFFF00"/>
                    </a:solidFill>
                  </a:tcPr>
                </a:tc>
                <a:tc>
                  <a:txBody>
                    <a:bodyPr/>
                    <a:lstStyle/>
                    <a:p>
                      <a:r>
                        <a:rPr sz="1150" b="1" i="0">
                          <a:solidFill>
                            <a:srgbClr val="000000"/>
                          </a:solidFill>
                          <a:latin typeface="Times New Roman"/>
                        </a:rPr>
                        <a:t>Responsibility</a:t>
                      </a:r>
                    </a:p>
                  </a:txBody>
                  <a:tcPr marL="54864" marR="54864" marT="18288" marB="18288" anchor="ctr">
                    <a:solidFill>
                      <a:srgbClr val="FFFF00"/>
                    </a:solidFill>
                  </a:tcPr>
                </a:tc>
                <a:tc>
                  <a:txBody>
                    <a:bodyPr/>
                    <a:lstStyle/>
                    <a:p>
                      <a:pPr algn="ctr"/>
                      <a:r>
                        <a:rPr sz="1150" b="1" i="0">
                          <a:solidFill>
                            <a:srgbClr val="000000"/>
                          </a:solidFill>
                          <a:latin typeface="Times New Roman"/>
                        </a:rPr>
                        <a:t>Database</a:t>
                      </a:r>
                    </a:p>
                  </a:txBody>
                  <a:tcPr marL="54864" marR="54864" marT="18288" marB="18288" anchor="ctr">
                    <a:solidFill>
                      <a:srgbClr val="FFFF00"/>
                    </a:solidFill>
                  </a:tcPr>
                </a:tc>
                <a:tc>
                  <a:txBody>
                    <a:bodyPr/>
                    <a:lstStyle/>
                    <a:p>
                      <a:pPr algn="ctr"/>
                      <a:r>
                        <a:rPr sz="1150" b="1" i="0">
                          <a:solidFill>
                            <a:srgbClr val="000000"/>
                          </a:solidFill>
                          <a:latin typeface="Times New Roman"/>
                        </a:rPr>
                        <a:t>Status</a:t>
                      </a:r>
                    </a:p>
                  </a:txBody>
                  <a:tcPr marL="54864" marR="54864" marT="18288" marB="18288" anchor="ctr">
                    <a:solidFill>
                      <a:srgbClr val="FFFF00"/>
                    </a:solidFill>
                  </a:tcPr>
                </a:tc>
                <a:extLst>
                  <a:ext uri="{0D108BD9-81ED-4DB2-BD59-A6C34878D82A}">
                    <a16:rowId xmlns:a16="http://schemas.microsoft.com/office/drawing/2014/main" val="10000"/>
                  </a:ext>
                </a:extLst>
              </a:tr>
              <a:tr h="620000">
                <a:tc>
                  <a:txBody>
                    <a:bodyPr/>
                    <a:lstStyle/>
                    <a:p>
                      <a:r>
                        <a:rPr sz="1100" b="0" i="0">
                          <a:solidFill>
                            <a:srgbClr val="000000"/>
                          </a:solidFill>
                          <a:latin typeface="Times New Roman"/>
                        </a:rPr>
                        <a:t>Auth Service</a:t>
                      </a:r>
                    </a:p>
                  </a:txBody>
                  <a:tcPr marL="54864" marR="54864" marT="18288" marB="18288" anchor="ctr">
                    <a:solidFill>
                      <a:srgbClr val="FFFFFF"/>
                    </a:solidFill>
                  </a:tcPr>
                </a:tc>
                <a:tc>
                  <a:txBody>
                    <a:bodyPr/>
                    <a:lstStyle/>
                    <a:p>
                      <a:r>
                        <a:rPr sz="1100" b="0" i="0">
                          <a:solidFill>
                            <a:srgbClr val="000000"/>
                          </a:solidFill>
                          <a:latin typeface="Times New Roman"/>
                        </a:rPr>
                        <a:t>Google OAuth2, JWT issuance, role-based authorisation</a:t>
                      </a:r>
                    </a:p>
                  </a:txBody>
                  <a:tcPr marL="54864" marR="54864" marT="18288" marB="18288" anchor="ctr">
                    <a:solidFill>
                      <a:srgbClr val="FFFFFF"/>
                    </a:solidFill>
                  </a:tcPr>
                </a:tc>
                <a:tc>
                  <a:txBody>
                    <a:bodyPr/>
                    <a:lstStyle/>
                    <a:p>
                      <a:pPr algn="ctr"/>
                      <a:r>
                        <a:rPr sz="1100" b="0" i="0">
                          <a:solidFill>
                            <a:srgbClr val="000000"/>
                          </a:solidFill>
                          <a:latin typeface="Times New Roman"/>
                        </a:rPr>
                        <a:t>auth_db</a:t>
                      </a:r>
                    </a:p>
                  </a:txBody>
                  <a:tcPr marL="54864" marR="54864" marT="18288" marB="18288" anchor="ctr">
                    <a:solidFill>
                      <a:srgbClr val="FFFFFF"/>
                    </a:solidFill>
                  </a:tcPr>
                </a:tc>
                <a:tc>
                  <a:txBody>
                    <a:bodyPr/>
                    <a:lstStyle/>
                    <a:p>
                      <a:pPr algn="ctr"/>
                      <a:r>
                        <a:rPr sz="1100" b="0" i="0">
                          <a:solidFill>
                            <a:srgbClr val="000000"/>
                          </a:solidFill>
                          <a:latin typeface="Times New Roman"/>
                        </a:rPr>
                        <a:t>Already built</a:t>
                      </a:r>
                    </a:p>
                  </a:txBody>
                  <a:tcPr marL="54864" marR="54864" marT="18288" marB="18288" anchor="ctr">
                    <a:solidFill>
                      <a:srgbClr val="FFFFFF"/>
                    </a:solidFill>
                  </a:tcPr>
                </a:tc>
                <a:extLst>
                  <a:ext uri="{0D108BD9-81ED-4DB2-BD59-A6C34878D82A}">
                    <a16:rowId xmlns:a16="http://schemas.microsoft.com/office/drawing/2014/main" val="10001"/>
                  </a:ext>
                </a:extLst>
              </a:tr>
              <a:tr h="620000">
                <a:tc>
                  <a:txBody>
                    <a:bodyPr/>
                    <a:lstStyle/>
                    <a:p>
                      <a:r>
                        <a:rPr sz="1100" b="0" i="0">
                          <a:solidFill>
                            <a:srgbClr val="000000"/>
                          </a:solidFill>
                          <a:latin typeface="Times New Roman"/>
                        </a:rPr>
                        <a:t>Task Service</a:t>
                      </a:r>
                    </a:p>
                  </a:txBody>
                  <a:tcPr marL="54864" marR="54864" marT="18288" marB="18288" anchor="ctr">
                    <a:solidFill>
                      <a:srgbClr val="FFFFFF"/>
                    </a:solidFill>
                  </a:tcPr>
                </a:tc>
                <a:tc>
                  <a:txBody>
                    <a:bodyPr/>
                    <a:lstStyle/>
                    <a:p>
                      <a:r>
                        <a:rPr sz="1100" b="0" i="0">
                          <a:solidFill>
                            <a:srgbClr val="000000"/>
                          </a:solidFill>
                          <a:latin typeface="Times New Roman"/>
                        </a:rPr>
                        <a:t>Task CRUD, recurring goals, status, snooze count</a:t>
                      </a:r>
                    </a:p>
                  </a:txBody>
                  <a:tcPr marL="54864" marR="54864" marT="18288" marB="18288" anchor="ctr">
                    <a:solidFill>
                      <a:srgbClr val="FFFFFF"/>
                    </a:solidFill>
                  </a:tcPr>
                </a:tc>
                <a:tc>
                  <a:txBody>
                    <a:bodyPr/>
                    <a:lstStyle/>
                    <a:p>
                      <a:pPr algn="ctr"/>
                      <a:r>
                        <a:rPr sz="1100" b="0" i="0">
                          <a:solidFill>
                            <a:srgbClr val="000000"/>
                          </a:solidFill>
                          <a:latin typeface="Times New Roman"/>
                        </a:rPr>
                        <a:t>task_db</a:t>
                      </a:r>
                    </a:p>
                  </a:txBody>
                  <a:tcPr marL="54864" marR="54864" marT="18288" marB="18288" anchor="ctr">
                    <a:solidFill>
                      <a:srgbClr val="FFFFFF"/>
                    </a:solidFill>
                  </a:tcPr>
                </a:tc>
                <a:tc>
                  <a:txBody>
                    <a:bodyPr/>
                    <a:lstStyle/>
                    <a:p>
                      <a:pPr algn="ctr"/>
                      <a:r>
                        <a:rPr sz="1100" b="0" i="0">
                          <a:solidFill>
                            <a:srgbClr val="000000"/>
                          </a:solidFill>
                          <a:latin typeface="Times New Roman"/>
                        </a:rPr>
                        <a:t>To build</a:t>
                      </a:r>
                    </a:p>
                  </a:txBody>
                  <a:tcPr marL="54864" marR="54864" marT="18288" marB="18288" anchor="ctr">
                    <a:solidFill>
                      <a:srgbClr val="FFFFFF"/>
                    </a:solidFill>
                  </a:tcPr>
                </a:tc>
                <a:extLst>
                  <a:ext uri="{0D108BD9-81ED-4DB2-BD59-A6C34878D82A}">
                    <a16:rowId xmlns:a16="http://schemas.microsoft.com/office/drawing/2014/main" val="10002"/>
                  </a:ext>
                </a:extLst>
              </a:tr>
              <a:tr h="620000">
                <a:tc>
                  <a:txBody>
                    <a:bodyPr/>
                    <a:lstStyle/>
                    <a:p>
                      <a:r>
                        <a:rPr sz="1100" b="0" i="0">
                          <a:solidFill>
                            <a:srgbClr val="000000"/>
                          </a:solidFill>
                          <a:latin typeface="Times New Roman"/>
                        </a:rPr>
                        <a:t>Integration Service</a:t>
                      </a:r>
                    </a:p>
                  </a:txBody>
                  <a:tcPr marL="54864" marR="54864" marT="18288" marB="18288" anchor="ctr">
                    <a:solidFill>
                      <a:srgbClr val="FFFFFF"/>
                    </a:solidFill>
                  </a:tcPr>
                </a:tc>
                <a:tc>
                  <a:txBody>
                    <a:bodyPr/>
                    <a:lstStyle/>
                    <a:p>
                      <a:r>
                        <a:rPr sz="1100" b="0" i="0">
                          <a:solidFill>
                            <a:srgbClr val="000000"/>
                          </a:solidFill>
                          <a:latin typeface="Times New Roman"/>
                        </a:rPr>
                        <a:t>Pluggable Contest / Profile Provider architecture (Codeforces live, others stubbed) plus Google Calendar sync</a:t>
                      </a:r>
                    </a:p>
                  </a:txBody>
                  <a:tcPr marL="54864" marR="54864" marT="18288" marB="18288" anchor="ctr">
                    <a:solidFill>
                      <a:srgbClr val="FFFFFF"/>
                    </a:solidFill>
                  </a:tcPr>
                </a:tc>
                <a:tc>
                  <a:txBody>
                    <a:bodyPr/>
                    <a:lstStyle/>
                    <a:p>
                      <a:pPr algn="ctr"/>
                      <a:r>
                        <a:rPr sz="1100" b="0" i="0">
                          <a:solidFill>
                            <a:srgbClr val="000000"/>
                          </a:solidFill>
                          <a:latin typeface="Times New Roman"/>
                        </a:rPr>
                        <a:t>integration_db (cache only)</a:t>
                      </a:r>
                    </a:p>
                  </a:txBody>
                  <a:tcPr marL="54864" marR="54864" marT="18288" marB="18288" anchor="ctr">
                    <a:solidFill>
                      <a:srgbClr val="FFFFFF"/>
                    </a:solidFill>
                  </a:tcPr>
                </a:tc>
                <a:tc>
                  <a:txBody>
                    <a:bodyPr/>
                    <a:lstStyle/>
                    <a:p>
                      <a:pPr algn="ctr"/>
                      <a:r>
                        <a:rPr sz="1100" b="0" i="0">
                          <a:solidFill>
                            <a:srgbClr val="000000"/>
                          </a:solidFill>
                          <a:latin typeface="Times New Roman"/>
                        </a:rPr>
                        <a:t>To build</a:t>
                      </a:r>
                    </a:p>
                  </a:txBody>
                  <a:tcPr marL="54864" marR="54864" marT="18288" marB="18288" anchor="ctr">
                    <a:solidFill>
                      <a:srgbClr val="FFFFFF"/>
                    </a:solidFill>
                  </a:tcPr>
                </a:tc>
                <a:extLst>
                  <a:ext uri="{0D108BD9-81ED-4DB2-BD59-A6C34878D82A}">
                    <a16:rowId xmlns:a16="http://schemas.microsoft.com/office/drawing/2014/main" val="10003"/>
                  </a:ext>
                </a:extLst>
              </a:tr>
              <a:tr h="620000">
                <a:tc>
                  <a:txBody>
                    <a:bodyPr/>
                    <a:lstStyle/>
                    <a:p>
                      <a:r>
                        <a:rPr sz="1100" b="0" i="0">
                          <a:solidFill>
                            <a:srgbClr val="000000"/>
                          </a:solidFill>
                          <a:latin typeface="Times New Roman"/>
                        </a:rPr>
                        <a:t>Planning Service (SAGE Brain)</a:t>
                      </a:r>
                    </a:p>
                  </a:txBody>
                  <a:tcPr marL="54864" marR="54864" marT="18288" marB="18288" anchor="ctr">
                    <a:solidFill>
                      <a:srgbClr val="FFFFFF"/>
                    </a:solidFill>
                  </a:tcPr>
                </a:tc>
                <a:tc>
                  <a:txBody>
                    <a:bodyPr/>
                    <a:lstStyle/>
                    <a:p>
                      <a:r>
                        <a:rPr sz="1100" b="0" i="0">
                          <a:solidFill>
                            <a:srgbClr val="000000"/>
                          </a:solidFill>
                          <a:latin typeface="Times New Roman"/>
                        </a:rPr>
                        <a:t>Today's schedule, overload detection, adaptive rescheduling, LLM Q&amp;A</a:t>
                      </a:r>
                    </a:p>
                  </a:txBody>
                  <a:tcPr marL="54864" marR="54864" marT="18288" marB="18288" anchor="ctr">
                    <a:solidFill>
                      <a:srgbClr val="FFFFFF"/>
                    </a:solidFill>
                  </a:tcPr>
                </a:tc>
                <a:tc>
                  <a:txBody>
                    <a:bodyPr/>
                    <a:lstStyle/>
                    <a:p>
                      <a:pPr algn="ctr"/>
                      <a:r>
                        <a:rPr sz="1100" b="0" i="0">
                          <a:solidFill>
                            <a:srgbClr val="000000"/>
                          </a:solidFill>
                          <a:latin typeface="Times New Roman"/>
                        </a:rPr>
                        <a:t>planning_db</a:t>
                      </a:r>
                    </a:p>
                  </a:txBody>
                  <a:tcPr marL="54864" marR="54864" marT="18288" marB="18288" anchor="ctr">
                    <a:solidFill>
                      <a:srgbClr val="FFFFFF"/>
                    </a:solidFill>
                  </a:tcPr>
                </a:tc>
                <a:tc>
                  <a:txBody>
                    <a:bodyPr/>
                    <a:lstStyle/>
                    <a:p>
                      <a:pPr algn="ctr"/>
                      <a:r>
                        <a:rPr sz="1100" b="0" i="0">
                          <a:solidFill>
                            <a:srgbClr val="000000"/>
                          </a:solidFill>
                          <a:latin typeface="Times New Roman"/>
                        </a:rPr>
                        <a:t>To build</a:t>
                      </a:r>
                    </a:p>
                  </a:txBody>
                  <a:tcPr marL="54864" marR="54864" marT="18288" marB="18288" anchor="ctr">
                    <a:solidFill>
                      <a:srgbClr val="FFFFFF"/>
                    </a:solidFill>
                  </a:tcPr>
                </a:tc>
                <a:extLst>
                  <a:ext uri="{0D108BD9-81ED-4DB2-BD59-A6C34878D82A}">
                    <a16:rowId xmlns:a16="http://schemas.microsoft.com/office/drawing/2014/main" val="10004"/>
                  </a:ext>
                </a:extLst>
              </a:tr>
              <a:tr h="620000">
                <a:tc>
                  <a:txBody>
                    <a:bodyPr/>
                    <a:lstStyle/>
                    <a:p>
                      <a:r>
                        <a:rPr sz="1100" b="0" i="0">
                          <a:solidFill>
                            <a:srgbClr val="000000"/>
                          </a:solidFill>
                          <a:latin typeface="Times New Roman"/>
                        </a:rPr>
                        <a:t>Notification Service</a:t>
                      </a:r>
                    </a:p>
                  </a:txBody>
                  <a:tcPr marL="54864" marR="54864" marT="18288" marB="18288" anchor="ctr">
                    <a:solidFill>
                      <a:srgbClr val="FFFFFF"/>
                    </a:solidFill>
                  </a:tcPr>
                </a:tc>
                <a:tc>
                  <a:txBody>
                    <a:bodyPr/>
                    <a:lstStyle/>
                    <a:p>
                      <a:r>
                        <a:rPr sz="1100" b="0" i="0">
                          <a:solidFill>
                            <a:srgbClr val="000000"/>
                          </a:solidFill>
                          <a:latin typeface="Times New Roman"/>
                        </a:rPr>
                        <a:t>Event-triggered contest, task and goal reminders; snooze nudges</a:t>
                      </a:r>
                    </a:p>
                  </a:txBody>
                  <a:tcPr marL="54864" marR="54864" marT="18288" marB="18288" anchor="ctr">
                    <a:solidFill>
                      <a:srgbClr val="FFFFFF"/>
                    </a:solidFill>
                  </a:tcPr>
                </a:tc>
                <a:tc>
                  <a:txBody>
                    <a:bodyPr/>
                    <a:lstStyle/>
                    <a:p>
                      <a:pPr algn="ctr"/>
                      <a:r>
                        <a:rPr sz="1100" b="0" i="0">
                          <a:solidFill>
                            <a:srgbClr val="000000"/>
                          </a:solidFill>
                          <a:latin typeface="Times New Roman"/>
                        </a:rPr>
                        <a:t>notification_db (or stateless)</a:t>
                      </a:r>
                    </a:p>
                  </a:txBody>
                  <a:tcPr marL="54864" marR="54864" marT="18288" marB="18288" anchor="ctr">
                    <a:solidFill>
                      <a:srgbClr val="FFFFFF"/>
                    </a:solidFill>
                  </a:tcPr>
                </a:tc>
                <a:tc>
                  <a:txBody>
                    <a:bodyPr/>
                    <a:lstStyle/>
                    <a:p>
                      <a:pPr algn="ctr"/>
                      <a:r>
                        <a:rPr sz="1100" b="0" i="0">
                          <a:solidFill>
                            <a:srgbClr val="000000"/>
                          </a:solidFill>
                          <a:latin typeface="Times New Roman"/>
                        </a:rPr>
                        <a:t>To build</a:t>
                      </a:r>
                    </a:p>
                  </a:txBody>
                  <a:tcPr marL="54864" marR="54864"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900000" y="5320000"/>
            <a:ext cx="10400000" cy="900000"/>
          </a:xfrm>
          <a:prstGeom prst="rect">
            <a:avLst/>
          </a:prstGeom>
          <a:noFill/>
        </p:spPr>
        <p:txBody>
          <a:bodyPr wrap="square">
            <a:spAutoFit/>
          </a:bodyPr>
          <a:lstStyle/>
          <a:p>
            <a:pPr algn="ctr"/>
            <a:r>
              <a:rPr sz="1350" b="0" i="1">
                <a:solidFill>
                  <a:srgbClr val="202020"/>
                </a:solidFill>
                <a:latin typeface="Times New Roman"/>
              </a:rPr>
              <a:t>Why exactly five: each owns a distinct responsibility, data shape and failure mode — transactional CRUD, third-party isolation behind one interface, the only LLM-dependent decision component, and pure event-driven dispatch. No service was added to hit a requirement count.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a:latin typeface="Times New Roman"/>
              </a:rPr>
              <a:t>UML Use Case Diagram</a:t>
            </a:r>
          </a:p>
        </p:txBody>
      </p:sp>
      <p:pic>
        <p:nvPicPr>
          <p:cNvPr id="4" name="Picture 3" descr="fig_usecase.png"/>
          <p:cNvPicPr>
            <a:picLocks noChangeAspect="1"/>
          </p:cNvPicPr>
          <p:nvPr/>
        </p:nvPicPr>
        <p:blipFill>
          <a:blip r:embed="rId3"/>
          <a:stretch>
            <a:fillRect/>
          </a:stretch>
        </p:blipFill>
        <p:spPr>
          <a:xfrm>
            <a:off x="2019168" y="1200000"/>
            <a:ext cx="8161664" cy="5000000"/>
          </a:xfrm>
          <a:prstGeom prst="rect">
            <a:avLst/>
          </a:prstGeom>
        </p:spPr>
      </p:pic>
      <p:sp>
        <p:nvSpPr>
          <p:cNvPr id="5" name="TextBox 4"/>
          <p:cNvSpPr txBox="1"/>
          <p:nvPr/>
        </p:nvSpPr>
        <p:spPr>
          <a:xfrm>
            <a:off x="900000" y="6280000"/>
            <a:ext cx="10400000" cy="300000"/>
          </a:xfrm>
          <a:prstGeom prst="rect">
            <a:avLst/>
          </a:prstGeom>
          <a:noFill/>
        </p:spPr>
        <p:txBody>
          <a:bodyPr wrap="square">
            <a:spAutoFit/>
          </a:bodyPr>
          <a:lstStyle/>
          <a:p>
            <a:pPr algn="ctr"/>
            <a:r>
              <a:rPr sz="1400" b="0" i="1">
                <a:solidFill>
                  <a:srgbClr val="202020"/>
                </a:solidFill>
                <a:latin typeface="Times New Roman"/>
              </a:rPr>
              <a:t>Figure 3 — Use case diagram: one primary actor (Student) and three external system actors, with &lt;&lt;include&gt;&gt; and &lt;&lt;extend&gt;&gt; relationships on today's plan and the snooze loop.</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a:latin typeface="Times New Roman"/>
              </a:rPr>
              <a:t>System Architecture Diagram</a:t>
            </a:r>
          </a:p>
        </p:txBody>
      </p:sp>
      <p:pic>
        <p:nvPicPr>
          <p:cNvPr id="4" name="Picture 3" descr="fig_arch.png"/>
          <p:cNvPicPr>
            <a:picLocks noChangeAspect="1"/>
          </p:cNvPicPr>
          <p:nvPr/>
        </p:nvPicPr>
        <p:blipFill>
          <a:blip r:embed="rId3"/>
          <a:stretch>
            <a:fillRect/>
          </a:stretch>
        </p:blipFill>
        <p:spPr>
          <a:xfrm>
            <a:off x="900000" y="2030513"/>
            <a:ext cx="10400000" cy="3338973"/>
          </a:xfrm>
          <a:prstGeom prst="rect">
            <a:avLst/>
          </a:prstGeom>
        </p:spPr>
      </p:pic>
      <p:sp>
        <p:nvSpPr>
          <p:cNvPr id="5" name="TextBox 4"/>
          <p:cNvSpPr txBox="1"/>
          <p:nvPr/>
        </p:nvSpPr>
        <p:spPr>
          <a:xfrm>
            <a:off x="900000" y="6280000"/>
            <a:ext cx="10400000" cy="300000"/>
          </a:xfrm>
          <a:prstGeom prst="rect">
            <a:avLst/>
          </a:prstGeom>
          <a:noFill/>
        </p:spPr>
        <p:txBody>
          <a:bodyPr wrap="square">
            <a:spAutoFit/>
          </a:bodyPr>
          <a:lstStyle/>
          <a:p>
            <a:pPr algn="ctr"/>
            <a:r>
              <a:rPr sz="1400" b="0" i="1">
                <a:solidFill>
                  <a:srgbClr val="202020"/>
                </a:solidFill>
                <a:latin typeface="Times New Roman"/>
              </a:rPr>
              <a:t>Figure 4 — Layered SOA: client, edge/infrastructure, five business services (one database each) and external providers. Synchronous REST only — no message broker at this request volume.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a:latin typeface="Times New Roman"/>
              </a:rPr>
              <a:t>Provider Abstraction — UML Class Diagram</a:t>
            </a:r>
          </a:p>
        </p:txBody>
      </p:sp>
      <p:pic>
        <p:nvPicPr>
          <p:cNvPr id="4" name="Picture 3" descr="fig_class.png"/>
          <p:cNvPicPr>
            <a:picLocks noChangeAspect="1"/>
          </p:cNvPicPr>
          <p:nvPr/>
        </p:nvPicPr>
        <p:blipFill>
          <a:blip r:embed="rId3"/>
          <a:stretch>
            <a:fillRect/>
          </a:stretch>
        </p:blipFill>
        <p:spPr>
          <a:xfrm>
            <a:off x="900000" y="2707157"/>
            <a:ext cx="10400000" cy="1985686"/>
          </a:xfrm>
          <a:prstGeom prst="rect">
            <a:avLst/>
          </a:prstGeom>
        </p:spPr>
      </p:pic>
      <p:sp>
        <p:nvSpPr>
          <p:cNvPr id="5" name="TextBox 4"/>
          <p:cNvSpPr txBox="1"/>
          <p:nvPr/>
        </p:nvSpPr>
        <p:spPr>
          <a:xfrm>
            <a:off x="900000" y="6280000"/>
            <a:ext cx="10400000" cy="300000"/>
          </a:xfrm>
          <a:prstGeom prst="rect">
            <a:avLst/>
          </a:prstGeom>
          <a:noFill/>
        </p:spPr>
        <p:txBody>
          <a:bodyPr wrap="square">
            <a:spAutoFit/>
          </a:bodyPr>
          <a:lstStyle/>
          <a:p>
            <a:pPr algn="ctr"/>
            <a:r>
              <a:rPr sz="1400" b="0" i="1">
                <a:solidFill>
                  <a:srgbClr val="202020"/>
                </a:solidFill>
                <a:latin typeface="Times New Roman"/>
              </a:rPr>
              <a:t>Figure 5 — Contest / Profile provider abstraction: a new platform is added by implementing the interface and registering it, with no change to Task Service, Planning Service or the Gateway.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dirty="0">
                <a:latin typeface="Times New Roman"/>
              </a:rPr>
              <a:t>Success Criteria — Demo and Grading</a:t>
            </a:r>
          </a:p>
        </p:txBody>
      </p:sp>
      <p:sp>
        <p:nvSpPr>
          <p:cNvPr id="4" name="TextBox 3"/>
          <p:cNvSpPr txBox="1"/>
          <p:nvPr/>
        </p:nvSpPr>
        <p:spPr>
          <a:xfrm>
            <a:off x="900000" y="1400000"/>
            <a:ext cx="10400000" cy="3100000"/>
          </a:xfrm>
          <a:prstGeom prst="rect">
            <a:avLst/>
          </a:prstGeom>
          <a:noFill/>
        </p:spPr>
        <p:txBody>
          <a:bodyPr wrap="square">
            <a:spAutoFit/>
          </a:bodyPr>
          <a:lstStyle/>
          <a:p>
            <a:pPr>
              <a:spcAft>
                <a:spcPts val="1100"/>
              </a:spcAft>
            </a:pPr>
            <a:r>
              <a:rPr sz="1700" b="0" i="0" dirty="0">
                <a:solidFill>
                  <a:srgbClr val="202020"/>
                </a:solidFill>
                <a:latin typeface="Times New Roman"/>
              </a:rPr>
              <a:t>•  Zero tasks to a generated, overload-flagged daily schedule in under two minutes, live on stage.</a:t>
            </a:r>
          </a:p>
          <a:p>
            <a:pPr>
              <a:spcAft>
                <a:spcPts val="1100"/>
              </a:spcAft>
            </a:pPr>
            <a:r>
              <a:rPr sz="1700" b="0" i="0" dirty="0">
                <a:solidFill>
                  <a:srgbClr val="202020"/>
                </a:solidFill>
                <a:latin typeface="Times New Roman"/>
              </a:rPr>
              <a:t>•  A real upcoming </a:t>
            </a:r>
            <a:r>
              <a:rPr sz="1700" b="0" i="0" dirty="0" err="1">
                <a:solidFill>
                  <a:srgbClr val="202020"/>
                </a:solidFill>
                <a:latin typeface="Times New Roman"/>
              </a:rPr>
              <a:t>Codeforces</a:t>
            </a:r>
            <a:r>
              <a:rPr sz="1700" b="0" i="0" dirty="0">
                <a:solidFill>
                  <a:srgbClr val="202020"/>
                </a:solidFill>
                <a:latin typeface="Times New Roman"/>
              </a:rPr>
              <a:t> contest appears in the schedule without any manual entry.</a:t>
            </a:r>
          </a:p>
          <a:p>
            <a:pPr>
              <a:spcAft>
                <a:spcPts val="1100"/>
              </a:spcAft>
            </a:pPr>
            <a:r>
              <a:rPr sz="1700" b="0" i="0" dirty="0">
                <a:solidFill>
                  <a:srgbClr val="202020"/>
                </a:solidFill>
                <a:latin typeface="Times New Roman"/>
              </a:rPr>
              <a:t>•  Snoozing a task three times visibly triggers a reschedule prompt.</a:t>
            </a:r>
          </a:p>
          <a:p>
            <a:pPr>
              <a:spcAft>
                <a:spcPts val="1100"/>
              </a:spcAft>
            </a:pPr>
            <a:r>
              <a:rPr sz="1700" b="0" i="0" dirty="0">
                <a:solidFill>
                  <a:srgbClr val="202020"/>
                </a:solidFill>
                <a:latin typeface="Times New Roman"/>
              </a:rPr>
              <a:t>•  A SAGE Brain question returns an answer that references the student's actual current tasks, not generic text.</a:t>
            </a:r>
          </a:p>
          <a:p>
            <a:pPr>
              <a:spcAft>
                <a:spcPts val="1100"/>
              </a:spcAft>
            </a:pPr>
            <a:r>
              <a:rPr sz="1700" b="0" i="0" dirty="0">
                <a:solidFill>
                  <a:srgbClr val="202020"/>
                </a:solidFill>
                <a:latin typeface="Times New Roman"/>
              </a:rPr>
              <a:t>•  Every microservice has a one-sentence, defensible reason to exist that survives direct questioning.</a:t>
            </a:r>
          </a:p>
        </p:txBody>
      </p:sp>
      <p:sp>
        <p:nvSpPr>
          <p:cNvPr id="5" name="TextBox 4"/>
          <p:cNvSpPr txBox="1"/>
          <p:nvPr/>
        </p:nvSpPr>
        <p:spPr>
          <a:xfrm>
            <a:off x="900000" y="4450000"/>
            <a:ext cx="10400000" cy="1700000"/>
          </a:xfrm>
          <a:prstGeom prst="rect">
            <a:avLst/>
          </a:prstGeom>
          <a:noFill/>
        </p:spPr>
        <p:txBody>
          <a:bodyPr wrap="square">
            <a:spAutoFit/>
          </a:bodyPr>
          <a:lstStyle/>
          <a:p>
            <a:pPr algn="ctr"/>
            <a:r>
              <a:rPr sz="1500" b="0" i="1">
                <a:solidFill>
                  <a:srgbClr val="202020"/>
                </a:solidFill>
                <a:latin typeface="Times New Roman"/>
              </a:rPr>
              <a:t>“Google Calendar shows fixed events. Alarms and contest bots remind you of one thing at a time with no awareness of anything else you have going on. SAGE pulls deadlines, contests, recurring goals and calendar availability into one real plan for today, tells you when you have taken on more than fits, and adjusts when you procrastinate — instead of just re-ringing an alarm.”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a:latin typeface="Times New Roman"/>
              </a:rPr>
              <a:t>Academic Requirement Coverage</a:t>
            </a:r>
          </a:p>
        </p:txBody>
      </p:sp>
      <p:graphicFrame>
        <p:nvGraphicFramePr>
          <p:cNvPr id="4" name="Table 3"/>
          <p:cNvGraphicFramePr>
            <a:graphicFrameLocks noGrp="1"/>
          </p:cNvGraphicFramePr>
          <p:nvPr/>
        </p:nvGraphicFramePr>
        <p:xfrm>
          <a:off x="900000" y="1420000"/>
          <a:ext cx="10390000" cy="5180000"/>
        </p:xfrm>
        <a:graphic>
          <a:graphicData uri="http://schemas.openxmlformats.org/drawingml/2006/table">
            <a:tbl>
              <a:tblPr firstRow="1" bandRow="1">
                <a:tableStyleId>{5C22544A-7EE6-4342-B048-85BDC9FD1C3A}</a:tableStyleId>
              </a:tblPr>
              <a:tblGrid>
                <a:gridCol w="7000000">
                  <a:extLst>
                    <a:ext uri="{9D8B030D-6E8A-4147-A177-3AD203B41FA5}">
                      <a16:colId xmlns:a16="http://schemas.microsoft.com/office/drawing/2014/main" val="20000"/>
                    </a:ext>
                  </a:extLst>
                </a:gridCol>
                <a:gridCol w="3390000">
                  <a:extLst>
                    <a:ext uri="{9D8B030D-6E8A-4147-A177-3AD203B41FA5}">
                      <a16:colId xmlns:a16="http://schemas.microsoft.com/office/drawing/2014/main" val="20001"/>
                    </a:ext>
                  </a:extLst>
                </a:gridCol>
              </a:tblGrid>
              <a:tr h="370000">
                <a:tc>
                  <a:txBody>
                    <a:bodyPr/>
                    <a:lstStyle/>
                    <a:p>
                      <a:r>
                        <a:rPr sz="1150" b="1" i="0">
                          <a:solidFill>
                            <a:srgbClr val="000000"/>
                          </a:solidFill>
                          <a:latin typeface="Times New Roman"/>
                        </a:rPr>
                        <a:t>Academic requirement</a:t>
                      </a:r>
                    </a:p>
                  </a:txBody>
                  <a:tcPr marL="54864" marR="54864" marT="18288" marB="18288" anchor="ctr">
                    <a:solidFill>
                      <a:srgbClr val="FFFF00"/>
                    </a:solidFill>
                  </a:tcPr>
                </a:tc>
                <a:tc>
                  <a:txBody>
                    <a:bodyPr/>
                    <a:lstStyle/>
                    <a:p>
                      <a:pPr algn="ctr"/>
                      <a:r>
                        <a:rPr sz="1150" b="1" i="0">
                          <a:solidFill>
                            <a:srgbClr val="000000"/>
                          </a:solidFill>
                          <a:latin typeface="Times New Roman"/>
                        </a:rPr>
                        <a:t>Status</a:t>
                      </a:r>
                    </a:p>
                  </a:txBody>
                  <a:tcPr marL="54864" marR="54864" marT="18288" marB="18288" anchor="ctr">
                    <a:solidFill>
                      <a:srgbClr val="FFFF00"/>
                    </a:solidFill>
                  </a:tcPr>
                </a:tc>
                <a:extLst>
                  <a:ext uri="{0D108BD9-81ED-4DB2-BD59-A6C34878D82A}">
                    <a16:rowId xmlns:a16="http://schemas.microsoft.com/office/drawing/2014/main" val="10000"/>
                  </a:ext>
                </a:extLst>
              </a:tr>
              <a:tr h="370000">
                <a:tc>
                  <a:txBody>
                    <a:bodyPr/>
                    <a:lstStyle/>
                    <a:p>
                      <a:r>
                        <a:rPr sz="1100" b="0" i="0">
                          <a:solidFill>
                            <a:srgbClr val="000000"/>
                          </a:solidFill>
                          <a:latin typeface="Times New Roman"/>
                        </a:rPr>
                        <a:t>At least 3 microservices (5 delivered)</a:t>
                      </a:r>
                    </a:p>
                  </a:txBody>
                  <a:tcPr marL="54864" marR="54864" marT="18288" marB="18288" anchor="ctr">
                    <a:solidFill>
                      <a:srgbClr val="FFFFFF"/>
                    </a:solidFill>
                  </a:tcPr>
                </a:tc>
                <a:tc>
                  <a:txBody>
                    <a:bodyPr/>
                    <a:lstStyle/>
                    <a:p>
                      <a:pPr algn="ctr"/>
                      <a:r>
                        <a:rPr sz="1100" b="0" i="0">
                          <a:solidFill>
                            <a:srgbClr val="000000"/>
                          </a:solidFill>
                          <a:latin typeface="Times New Roman"/>
                        </a:rPr>
                        <a:t>Done</a:t>
                      </a:r>
                    </a:p>
                  </a:txBody>
                  <a:tcPr marL="54864" marR="54864" marT="18288" marB="18288" anchor="ctr">
                    <a:solidFill>
                      <a:srgbClr val="FFFFFF"/>
                    </a:solidFill>
                  </a:tcPr>
                </a:tc>
                <a:extLst>
                  <a:ext uri="{0D108BD9-81ED-4DB2-BD59-A6C34878D82A}">
                    <a16:rowId xmlns:a16="http://schemas.microsoft.com/office/drawing/2014/main" val="10001"/>
                  </a:ext>
                </a:extLst>
              </a:tr>
              <a:tr h="370000">
                <a:tc>
                  <a:txBody>
                    <a:bodyPr/>
                    <a:lstStyle/>
                    <a:p>
                      <a:r>
                        <a:rPr sz="1100" b="0" i="0">
                          <a:solidFill>
                            <a:srgbClr val="000000"/>
                          </a:solidFill>
                          <a:latin typeface="Times New Roman"/>
                        </a:rPr>
                        <a:t>JWT authentication (Auth Service)</a:t>
                      </a:r>
                    </a:p>
                  </a:txBody>
                  <a:tcPr marL="54864" marR="54864" marT="18288" marB="18288" anchor="ctr">
                    <a:solidFill>
                      <a:srgbClr val="FFFFFF"/>
                    </a:solidFill>
                  </a:tcPr>
                </a:tc>
                <a:tc>
                  <a:txBody>
                    <a:bodyPr/>
                    <a:lstStyle/>
                    <a:p>
                      <a:pPr algn="ctr"/>
                      <a:r>
                        <a:rPr sz="1100" b="0" i="0">
                          <a:solidFill>
                            <a:srgbClr val="000000"/>
                          </a:solidFill>
                          <a:latin typeface="Times New Roman"/>
                        </a:rPr>
                        <a:t>Done</a:t>
                      </a:r>
                    </a:p>
                  </a:txBody>
                  <a:tcPr marL="54864" marR="54864" marT="18288" marB="18288" anchor="ctr">
                    <a:solidFill>
                      <a:srgbClr val="FFFFFF"/>
                    </a:solidFill>
                  </a:tcPr>
                </a:tc>
                <a:extLst>
                  <a:ext uri="{0D108BD9-81ED-4DB2-BD59-A6C34878D82A}">
                    <a16:rowId xmlns:a16="http://schemas.microsoft.com/office/drawing/2014/main" val="10002"/>
                  </a:ext>
                </a:extLst>
              </a:tr>
              <a:tr h="370000">
                <a:tc>
                  <a:txBody>
                    <a:bodyPr/>
                    <a:lstStyle/>
                    <a:p>
                      <a:r>
                        <a:rPr sz="1100" b="0" i="0">
                          <a:solidFill>
                            <a:srgbClr val="000000"/>
                          </a:solidFill>
                          <a:latin typeface="Times New Roman"/>
                        </a:rPr>
                        <a:t>Role-based authorization (Auth Service)</a:t>
                      </a:r>
                    </a:p>
                  </a:txBody>
                  <a:tcPr marL="54864" marR="54864" marT="18288" marB="18288" anchor="ctr">
                    <a:solidFill>
                      <a:srgbClr val="FFFFFF"/>
                    </a:solidFill>
                  </a:tcPr>
                </a:tc>
                <a:tc>
                  <a:txBody>
                    <a:bodyPr/>
                    <a:lstStyle/>
                    <a:p>
                      <a:pPr algn="ctr"/>
                      <a:r>
                        <a:rPr sz="1100" b="0" i="0">
                          <a:solidFill>
                            <a:srgbClr val="000000"/>
                          </a:solidFill>
                          <a:latin typeface="Times New Roman"/>
                        </a:rPr>
                        <a:t>Done</a:t>
                      </a:r>
                    </a:p>
                  </a:txBody>
                  <a:tcPr marL="54864" marR="54864" marT="18288" marB="18288" anchor="ctr">
                    <a:solidFill>
                      <a:srgbClr val="FFFFFF"/>
                    </a:solidFill>
                  </a:tcPr>
                </a:tc>
                <a:extLst>
                  <a:ext uri="{0D108BD9-81ED-4DB2-BD59-A6C34878D82A}">
                    <a16:rowId xmlns:a16="http://schemas.microsoft.com/office/drawing/2014/main" val="10003"/>
                  </a:ext>
                </a:extLst>
              </a:tr>
              <a:tr h="370000">
                <a:tc>
                  <a:txBody>
                    <a:bodyPr/>
                    <a:lstStyle/>
                    <a:p>
                      <a:r>
                        <a:rPr sz="1100" b="0" i="0">
                          <a:solidFill>
                            <a:srgbClr val="000000"/>
                          </a:solidFill>
                          <a:latin typeface="Times New Roman"/>
                        </a:rPr>
                        <a:t>Architecture diagram</a:t>
                      </a:r>
                    </a:p>
                  </a:txBody>
                  <a:tcPr marL="54864" marR="54864" marT="18288" marB="18288" anchor="ctr">
                    <a:solidFill>
                      <a:srgbClr val="FFFFFF"/>
                    </a:solidFill>
                  </a:tcPr>
                </a:tc>
                <a:tc>
                  <a:txBody>
                    <a:bodyPr/>
                    <a:lstStyle/>
                    <a:p>
                      <a:pPr algn="ctr"/>
                      <a:r>
                        <a:rPr sz="1100" b="0" i="0">
                          <a:solidFill>
                            <a:srgbClr val="000000"/>
                          </a:solidFill>
                          <a:latin typeface="Times New Roman"/>
                        </a:rPr>
                        <a:t>Done — this deck</a:t>
                      </a:r>
                    </a:p>
                  </a:txBody>
                  <a:tcPr marL="54864" marR="54864" marT="18288" marB="18288" anchor="ctr">
                    <a:solidFill>
                      <a:srgbClr val="FFFFFF"/>
                    </a:solidFill>
                  </a:tcPr>
                </a:tc>
                <a:extLst>
                  <a:ext uri="{0D108BD9-81ED-4DB2-BD59-A6C34878D82A}">
                    <a16:rowId xmlns:a16="http://schemas.microsoft.com/office/drawing/2014/main" val="10004"/>
                  </a:ext>
                </a:extLst>
              </a:tr>
              <a:tr h="370000">
                <a:tc>
                  <a:txBody>
                    <a:bodyPr/>
                    <a:lstStyle/>
                    <a:p>
                      <a:r>
                        <a:rPr sz="1100" b="0" i="0">
                          <a:solidFill>
                            <a:srgbClr val="000000"/>
                          </a:solidFill>
                          <a:latin typeface="Times New Roman"/>
                        </a:rPr>
                        <a:t>Service contracts and REST endpoints documented</a:t>
                      </a:r>
                    </a:p>
                  </a:txBody>
                  <a:tcPr marL="54864" marR="54864" marT="18288" marB="18288" anchor="ctr">
                    <a:solidFill>
                      <a:srgbClr val="FFFFFF"/>
                    </a:solidFill>
                  </a:tcPr>
                </a:tc>
                <a:tc>
                  <a:txBody>
                    <a:bodyPr/>
                    <a:lstStyle/>
                    <a:p>
                      <a:pPr algn="ctr"/>
                      <a:r>
                        <a:rPr sz="1100" b="0" i="0">
                          <a:solidFill>
                            <a:srgbClr val="000000"/>
                          </a:solidFill>
                          <a:latin typeface="Times New Roman"/>
                        </a:rPr>
                        <a:t>Pending</a:t>
                      </a:r>
                    </a:p>
                  </a:txBody>
                  <a:tcPr marL="54864" marR="54864" marT="18288" marB="18288" anchor="ctr">
                    <a:solidFill>
                      <a:srgbClr val="FFFFFF"/>
                    </a:solidFill>
                  </a:tcPr>
                </a:tc>
                <a:extLst>
                  <a:ext uri="{0D108BD9-81ED-4DB2-BD59-A6C34878D82A}">
                    <a16:rowId xmlns:a16="http://schemas.microsoft.com/office/drawing/2014/main" val="10005"/>
                  </a:ext>
                </a:extLst>
              </a:tr>
              <a:tr h="370000">
                <a:tc>
                  <a:txBody>
                    <a:bodyPr/>
                    <a:lstStyle/>
                    <a:p>
                      <a:r>
                        <a:rPr sz="1100" b="0" i="0">
                          <a:solidFill>
                            <a:srgbClr val="000000"/>
                          </a:solidFill>
                          <a:latin typeface="Times New Roman"/>
                        </a:rPr>
                        <a:t>CORS configuration</a:t>
                      </a:r>
                    </a:p>
                  </a:txBody>
                  <a:tcPr marL="54864" marR="54864" marT="18288" marB="18288" anchor="ctr">
                    <a:solidFill>
                      <a:srgbClr val="FFFFFF"/>
                    </a:solidFill>
                  </a:tcPr>
                </a:tc>
                <a:tc>
                  <a:txBody>
                    <a:bodyPr/>
                    <a:lstStyle/>
                    <a:p>
                      <a:pPr algn="ctr"/>
                      <a:r>
                        <a:rPr sz="1100" b="0" i="0">
                          <a:solidFill>
                            <a:srgbClr val="000000"/>
                          </a:solidFill>
                          <a:latin typeface="Times New Roman"/>
                        </a:rPr>
                        <a:t>Pending</a:t>
                      </a:r>
                    </a:p>
                  </a:txBody>
                  <a:tcPr marL="54864" marR="54864" marT="18288" marB="18288" anchor="ctr">
                    <a:solidFill>
                      <a:srgbClr val="FFFFFF"/>
                    </a:solidFill>
                  </a:tcPr>
                </a:tc>
                <a:extLst>
                  <a:ext uri="{0D108BD9-81ED-4DB2-BD59-A6C34878D82A}">
                    <a16:rowId xmlns:a16="http://schemas.microsoft.com/office/drawing/2014/main" val="10006"/>
                  </a:ext>
                </a:extLst>
              </a:tr>
              <a:tr h="370000">
                <a:tc>
                  <a:txBody>
                    <a:bodyPr/>
                    <a:lstStyle/>
                    <a:p>
                      <a:r>
                        <a:rPr sz="1100" b="0" i="0">
                          <a:solidFill>
                            <a:srgbClr val="000000"/>
                          </a:solidFill>
                          <a:latin typeface="Times New Roman"/>
                        </a:rPr>
                        <a:t>Eureka service registration</a:t>
                      </a:r>
                    </a:p>
                  </a:txBody>
                  <a:tcPr marL="54864" marR="54864" marT="18288" marB="18288" anchor="ctr">
                    <a:solidFill>
                      <a:srgbClr val="FFFFFF"/>
                    </a:solidFill>
                  </a:tcPr>
                </a:tc>
                <a:tc>
                  <a:txBody>
                    <a:bodyPr/>
                    <a:lstStyle/>
                    <a:p>
                      <a:pPr algn="ctr"/>
                      <a:r>
                        <a:rPr sz="1100" b="0" i="0">
                          <a:solidFill>
                            <a:srgbClr val="000000"/>
                          </a:solidFill>
                          <a:latin typeface="Times New Roman"/>
                        </a:rPr>
                        <a:t>Pending</a:t>
                      </a:r>
                    </a:p>
                  </a:txBody>
                  <a:tcPr marL="54864" marR="54864" marT="18288" marB="18288" anchor="ctr">
                    <a:solidFill>
                      <a:srgbClr val="FFFFFF"/>
                    </a:solidFill>
                  </a:tcPr>
                </a:tc>
                <a:extLst>
                  <a:ext uri="{0D108BD9-81ED-4DB2-BD59-A6C34878D82A}">
                    <a16:rowId xmlns:a16="http://schemas.microsoft.com/office/drawing/2014/main" val="10007"/>
                  </a:ext>
                </a:extLst>
              </a:tr>
              <a:tr h="370000">
                <a:tc>
                  <a:txBody>
                    <a:bodyPr/>
                    <a:lstStyle/>
                    <a:p>
                      <a:r>
                        <a:rPr sz="1100" b="0" i="0">
                          <a:solidFill>
                            <a:srgbClr val="000000"/>
                          </a:solidFill>
                          <a:latin typeface="Times New Roman"/>
                        </a:rPr>
                        <a:t>Spring Cloud Gateway routing</a:t>
                      </a:r>
                    </a:p>
                  </a:txBody>
                  <a:tcPr marL="54864" marR="54864" marT="18288" marB="18288" anchor="ctr">
                    <a:solidFill>
                      <a:srgbClr val="FFFFFF"/>
                    </a:solidFill>
                  </a:tcPr>
                </a:tc>
                <a:tc>
                  <a:txBody>
                    <a:bodyPr/>
                    <a:lstStyle/>
                    <a:p>
                      <a:pPr algn="ctr"/>
                      <a:r>
                        <a:rPr sz="1100" b="0" i="0">
                          <a:solidFill>
                            <a:srgbClr val="000000"/>
                          </a:solidFill>
                          <a:latin typeface="Times New Roman"/>
                        </a:rPr>
                        <a:t>Pending</a:t>
                      </a:r>
                    </a:p>
                  </a:txBody>
                  <a:tcPr marL="54864" marR="54864" marT="18288" marB="18288" anchor="ctr">
                    <a:solidFill>
                      <a:srgbClr val="FFFFFF"/>
                    </a:solidFill>
                  </a:tcPr>
                </a:tc>
                <a:extLst>
                  <a:ext uri="{0D108BD9-81ED-4DB2-BD59-A6C34878D82A}">
                    <a16:rowId xmlns:a16="http://schemas.microsoft.com/office/drawing/2014/main" val="10008"/>
                  </a:ext>
                </a:extLst>
              </a:tr>
              <a:tr h="370000">
                <a:tc>
                  <a:txBody>
                    <a:bodyPr/>
                    <a:lstStyle/>
                    <a:p>
                      <a:r>
                        <a:rPr sz="1100" b="0" i="0">
                          <a:solidFill>
                            <a:srgbClr val="000000"/>
                          </a:solidFill>
                          <a:latin typeface="Times New Roman"/>
                        </a:rPr>
                        <a:t>Database per service</a:t>
                      </a:r>
                    </a:p>
                  </a:txBody>
                  <a:tcPr marL="54864" marR="54864" marT="18288" marB="18288" anchor="ctr">
                    <a:solidFill>
                      <a:srgbClr val="FFFFFF"/>
                    </a:solidFill>
                  </a:tcPr>
                </a:tc>
                <a:tc>
                  <a:txBody>
                    <a:bodyPr/>
                    <a:lstStyle/>
                    <a:p>
                      <a:pPr algn="ctr"/>
                      <a:r>
                        <a:rPr sz="1100" b="0" i="0">
                          <a:solidFill>
                            <a:srgbClr val="000000"/>
                          </a:solidFill>
                          <a:latin typeface="Times New Roman"/>
                        </a:rPr>
                        <a:t>Pending</a:t>
                      </a:r>
                    </a:p>
                  </a:txBody>
                  <a:tcPr marL="54864" marR="54864" marT="18288" marB="18288" anchor="ctr">
                    <a:solidFill>
                      <a:srgbClr val="FFFFFF"/>
                    </a:solidFill>
                  </a:tcPr>
                </a:tc>
                <a:extLst>
                  <a:ext uri="{0D108BD9-81ED-4DB2-BD59-A6C34878D82A}">
                    <a16:rowId xmlns:a16="http://schemas.microsoft.com/office/drawing/2014/main" val="10009"/>
                  </a:ext>
                </a:extLst>
              </a:tr>
              <a:tr h="370000">
                <a:tc>
                  <a:txBody>
                    <a:bodyPr/>
                    <a:lstStyle/>
                    <a:p>
                      <a:r>
                        <a:rPr sz="1100" b="0" i="0">
                          <a:solidFill>
                            <a:srgbClr val="000000"/>
                          </a:solidFill>
                          <a:latin typeface="Times New Roman"/>
                        </a:rPr>
                        <a:t>Unit and integration tests</a:t>
                      </a:r>
                    </a:p>
                  </a:txBody>
                  <a:tcPr marL="54864" marR="54864" marT="18288" marB="18288" anchor="ctr">
                    <a:solidFill>
                      <a:srgbClr val="FFFFFF"/>
                    </a:solidFill>
                  </a:tcPr>
                </a:tc>
                <a:tc>
                  <a:txBody>
                    <a:bodyPr/>
                    <a:lstStyle/>
                    <a:p>
                      <a:pPr algn="ctr"/>
                      <a:r>
                        <a:rPr sz="1100" b="0" i="0">
                          <a:solidFill>
                            <a:srgbClr val="000000"/>
                          </a:solidFill>
                          <a:latin typeface="Times New Roman"/>
                        </a:rPr>
                        <a:t>Pending</a:t>
                      </a:r>
                    </a:p>
                  </a:txBody>
                  <a:tcPr marL="54864" marR="54864" marT="18288" marB="18288" anchor="ctr">
                    <a:solidFill>
                      <a:srgbClr val="FFFFFF"/>
                    </a:solidFill>
                  </a:tcPr>
                </a:tc>
                <a:extLst>
                  <a:ext uri="{0D108BD9-81ED-4DB2-BD59-A6C34878D82A}">
                    <a16:rowId xmlns:a16="http://schemas.microsoft.com/office/drawing/2014/main" val="10010"/>
                  </a:ext>
                </a:extLst>
              </a:tr>
              <a:tr h="370000">
                <a:tc>
                  <a:txBody>
                    <a:bodyPr/>
                    <a:lstStyle/>
                    <a:p>
                      <a:r>
                        <a:rPr sz="1100" b="0" i="0">
                          <a:solidFill>
                            <a:srgbClr val="000000"/>
                          </a:solidFill>
                          <a:latin typeface="Times New Roman"/>
                        </a:rPr>
                        <a:t>Postman API testing</a:t>
                      </a:r>
                    </a:p>
                  </a:txBody>
                  <a:tcPr marL="54864" marR="54864" marT="18288" marB="18288" anchor="ctr">
                    <a:solidFill>
                      <a:srgbClr val="FFFFFF"/>
                    </a:solidFill>
                  </a:tcPr>
                </a:tc>
                <a:tc>
                  <a:txBody>
                    <a:bodyPr/>
                    <a:lstStyle/>
                    <a:p>
                      <a:pPr algn="ctr"/>
                      <a:r>
                        <a:rPr sz="1100" b="0" i="0">
                          <a:solidFill>
                            <a:srgbClr val="000000"/>
                          </a:solidFill>
                          <a:latin typeface="Times New Roman"/>
                        </a:rPr>
                        <a:t>Pending</a:t>
                      </a:r>
                    </a:p>
                  </a:txBody>
                  <a:tcPr marL="54864" marR="54864" marT="18288" marB="18288" anchor="ctr">
                    <a:solidFill>
                      <a:srgbClr val="FFFFFF"/>
                    </a:solidFill>
                  </a:tcPr>
                </a:tc>
                <a:extLst>
                  <a:ext uri="{0D108BD9-81ED-4DB2-BD59-A6C34878D82A}">
                    <a16:rowId xmlns:a16="http://schemas.microsoft.com/office/drawing/2014/main" val="10011"/>
                  </a:ext>
                </a:extLst>
              </a:tr>
              <a:tr h="370000">
                <a:tc>
                  <a:txBody>
                    <a:bodyPr/>
                    <a:lstStyle/>
                    <a:p>
                      <a:r>
                        <a:rPr sz="1100" b="0" i="0">
                          <a:solidFill>
                            <a:srgbClr val="000000"/>
                          </a:solidFill>
                          <a:latin typeface="Times New Roman"/>
                        </a:rPr>
                        <a:t>GitHub Actions</a:t>
                      </a:r>
                    </a:p>
                  </a:txBody>
                  <a:tcPr marL="54864" marR="54864" marT="18288" marB="18288" anchor="ctr">
                    <a:solidFill>
                      <a:srgbClr val="FFFFFF"/>
                    </a:solidFill>
                  </a:tcPr>
                </a:tc>
                <a:tc>
                  <a:txBody>
                    <a:bodyPr/>
                    <a:lstStyle/>
                    <a:p>
                      <a:pPr algn="ctr"/>
                      <a:r>
                        <a:rPr sz="1100" b="0" i="0">
                          <a:solidFill>
                            <a:srgbClr val="000000"/>
                          </a:solidFill>
                          <a:latin typeface="Times New Roman"/>
                        </a:rPr>
                        <a:t>Pending</a:t>
                      </a:r>
                    </a:p>
                  </a:txBody>
                  <a:tcPr marL="54864" marR="54864" marT="18288" marB="18288" anchor="ctr">
                    <a:solidFill>
                      <a:srgbClr val="FFFFFF"/>
                    </a:solidFill>
                  </a:tcPr>
                </a:tc>
                <a:extLst>
                  <a:ext uri="{0D108BD9-81ED-4DB2-BD59-A6C34878D82A}">
                    <a16:rowId xmlns:a16="http://schemas.microsoft.com/office/drawing/2014/main" val="10012"/>
                  </a:ext>
                </a:extLst>
              </a:tr>
              <a:tr h="370000">
                <a:tc>
                  <a:txBody>
                    <a:bodyPr/>
                    <a:lstStyle/>
                    <a:p>
                      <a:r>
                        <a:rPr sz="1100" b="0" i="0">
                          <a:solidFill>
                            <a:srgbClr val="000000"/>
                          </a:solidFill>
                          <a:latin typeface="Times New Roman"/>
                        </a:rPr>
                        <a:t>Jira user stories and sprint board</a:t>
                      </a:r>
                    </a:p>
                  </a:txBody>
                  <a:tcPr marL="54864" marR="54864" marT="18288" marB="18288" anchor="ctr">
                    <a:solidFill>
                      <a:srgbClr val="FFFFFF"/>
                    </a:solidFill>
                  </a:tcPr>
                </a:tc>
                <a:tc>
                  <a:txBody>
                    <a:bodyPr/>
                    <a:lstStyle/>
                    <a:p>
                      <a:pPr algn="ctr"/>
                      <a:r>
                        <a:rPr sz="1100" b="0" i="0">
                          <a:solidFill>
                            <a:srgbClr val="000000"/>
                          </a:solidFill>
                          <a:latin typeface="Times New Roman"/>
                        </a:rPr>
                        <a:t>Pending</a:t>
                      </a:r>
                    </a:p>
                  </a:txBody>
                  <a:tcPr marL="54864" marR="54864" marT="18288" marB="18288" anchor="ctr">
                    <a:solidFill>
                      <a:srgbClr val="FFFFFF"/>
                    </a:solidFill>
                  </a:tcPr>
                </a:tc>
                <a:extLst>
                  <a:ext uri="{0D108BD9-81ED-4DB2-BD59-A6C34878D82A}">
                    <a16:rowId xmlns:a16="http://schemas.microsoft.com/office/drawing/2014/main" val="10013"/>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TotalTime>
  <Words>2337</Words>
  <Application>Microsoft Office PowerPoint</Application>
  <PresentationFormat>Widescreen</PresentationFormat>
  <Paragraphs>277</Paragraphs>
  <Slides>23</Slides>
  <Notes>2</Notes>
  <HiddenSlides>0</HiddenSlides>
  <MMClips>0</MMClips>
  <ScaleCrop>false</ScaleCrop>
  <HeadingPairs>
    <vt:vector size="4" baseType="variant">
      <vt:variant>
        <vt:lpstr>Theme</vt:lpstr>
      </vt:variant>
      <vt:variant>
        <vt:i4>2</vt:i4>
      </vt:variant>
      <vt:variant>
        <vt:lpstr>Slide Titles</vt:lpstr>
      </vt:variant>
      <vt:variant>
        <vt:i4>23</vt:i4>
      </vt:variant>
    </vt:vector>
  </HeadingPairs>
  <TitlesOfParts>
    <vt:vector size="25" baseType="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lahari pokuri</cp:lastModifiedBy>
  <cp:revision>36</cp:revision>
  <dcterms:created xsi:type="dcterms:W3CDTF">2026-08-08T06:33:56Z</dcterms:created>
  <dcterms:modified xsi:type="dcterms:W3CDTF">2026-09-22T07:31:46Z</dcterms:modified>
</cp:coreProperties>
</file>