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62" r:id="rId3"/>
    <p:sldId id="707" r:id="rId4"/>
    <p:sldId id="257" r:id="rId5"/>
    <p:sldId id="903" r:id="rId6"/>
    <p:sldId id="902" r:id="rId7"/>
    <p:sldId id="258" r:id="rId8"/>
    <p:sldId id="259" r:id="rId9"/>
    <p:sldId id="260" r:id="rId10"/>
    <p:sldId id="904" r:id="rId11"/>
    <p:sldId id="905" r:id="rId12"/>
    <p:sldId id="906" r:id="rId13"/>
    <p:sldId id="907" r:id="rId14"/>
    <p:sldId id="912" r:id="rId15"/>
    <p:sldId id="913" r:id="rId16"/>
    <p:sldId id="914" r:id="rId17"/>
    <p:sldId id="915" r:id="rId18"/>
    <p:sldId id="908" r:id="rId19"/>
    <p:sldId id="919" r:id="rId20"/>
    <p:sldId id="91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328E0D-D02C-443E-9C9C-B41506976B24}" v="7" dt="2026-09-26T08:46:03.6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56" y="4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2" qsCatId="3D" csTypeId="urn:microsoft.com/office/officeart/2005/8/colors/colorful1#2"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2">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1F6EA6A-8FF5-49DF-BDDD-F7431B447D8F}"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411EB6-9770-43AB-BBCE-044F1DB66B82}"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FAC05-A025-4B8A-AB88-2AE8812F8A48}" type="datetime3">
              <a:rPr lang="en-US" smtClean="0"/>
              <a:t>26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7906D5-6813-455D-BAA0-28A983958C32}" type="datetime3">
              <a:rPr lang="en-US" smtClean="0"/>
              <a:t>26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4309C4-DF5F-4FAA-9214-A2117415D598}" type="datetime3">
              <a:rPr lang="en-US" smtClean="0"/>
              <a:t>26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26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26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26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0D9772-7494-4C65-A0D8-1FBD740B2E65}"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B089DC-0019-49C7-8AD2-EF5D896393D8}"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9/26/2026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26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a:latin typeface="Times New Roman" panose="02020603050405020304" pitchFamily="18" charset="0"/>
              <a:cs typeface="Times New Roman" panose="02020603050405020304" pitchFamily="18" charset="0"/>
            </a:endParaRPr>
          </a:p>
          <a:p>
            <a:pPr algn="ctr"/>
            <a:r>
              <a:rPr lang="en-IN" sz="2000" b="1">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4236571943"/>
              </p:ext>
            </p:extLst>
          </p:nvPr>
        </p:nvGraphicFramePr>
        <p:xfrm>
          <a:off x="8193271" y="4898509"/>
          <a:ext cx="3702050" cy="7924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a:solidFill>
                            <a:schemeClr val="dk1"/>
                          </a:solidFill>
                          <a:latin typeface="Times New Roman" panose="02020603050405020304" pitchFamily="18" charset="0"/>
                          <a:ea typeface="Cambria"/>
                          <a:cs typeface="Times New Roman" panose="02020603050405020304" pitchFamily="18" charset="0"/>
                        </a:rPr>
                        <a:t>Name</a:t>
                      </a:r>
                      <a:endParaRPr lang="en-IN" sz="1400" b="1" kern="120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a:solidFill>
                            <a:schemeClr val="dk1"/>
                          </a:solidFill>
                          <a:latin typeface="Times New Roman" panose="02020603050405020304" pitchFamily="18" charset="0"/>
                          <a:ea typeface="Cambria"/>
                          <a:cs typeface="Times New Roman" panose="02020603050405020304" pitchFamily="18" charset="0"/>
                        </a:rPr>
                        <a:t>Roll Number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947167561"/>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a:solidFill>
                          <a:srgbClr val="C00000"/>
                        </a:solidFill>
                        <a:latin typeface="Times New Roman" panose="02020603050405020304" pitchFamily="18" charset="0"/>
                        <a:cs typeface="Times New Roman" panose="02020603050405020304" pitchFamily="18" charset="0"/>
                      </a:endParaRPr>
                    </a:p>
                    <a:p>
                      <a:r>
                        <a:rPr lang="en-IN" sz="1600" b="1">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err="1">
                          <a:solidFill>
                            <a:schemeClr val="dk1"/>
                          </a:solidFill>
                          <a:latin typeface="Times New Roman" panose="02020603050405020304" pitchFamily="18" charset="0"/>
                          <a:ea typeface="Cambria"/>
                          <a:cs typeface="Times New Roman" panose="02020603050405020304" pitchFamily="18" charset="0"/>
                          <a:sym typeface="Cambria"/>
                        </a:rPr>
                        <a:t>Dr.XXXXXX</a:t>
                      </a:r>
                      <a:endParaRPr lang="en-US" sz="1400" b="1">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a:solidFill>
                            <a:schemeClr val="dk1"/>
                          </a:solidFill>
                          <a:latin typeface="Times New Roman" panose="02020603050405020304" pitchFamily="18" charset="0"/>
                          <a:ea typeface="Cambria"/>
                          <a:cs typeface="Times New Roman" panose="02020603050405020304" pitchFamily="18" charset="0"/>
                          <a:sym typeface="Cambria"/>
                        </a:rPr>
                        <a:t>XXXXXX Professor, </a:t>
                      </a:r>
                    </a:p>
                    <a:p>
                      <a:pPr marL="0" indent="0" algn="l">
                        <a:lnSpc>
                          <a:spcPct val="100000"/>
                        </a:lnSpc>
                        <a:spcBef>
                          <a:spcPts val="200"/>
                        </a:spcBef>
                        <a:buSzPts val="810"/>
                        <a:buNone/>
                      </a:pPr>
                      <a:r>
                        <a:rPr lang="en-US" sz="1400" b="1">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a:t>Date</a:t>
            </a:r>
            <a:endParaRPr lang="en-IN" b="1"/>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a:solidFill>
                  <a:schemeClr val="bg1"/>
                </a:solidFill>
                <a:latin typeface="Times New Roman" panose="02020603050405020304" pitchFamily="18" charset="0"/>
                <a:cs typeface="Times New Roman" panose="02020603050405020304" pitchFamily="18" charset="0"/>
              </a:rPr>
              <a:t>SAGE: Student Academic for Growth and Education</a:t>
            </a:r>
            <a:endParaRPr kumimoji="0" lang="en-US" sz="3600" b="0" i="0" u="none" strike="noStrike" kern="1200" cap="none" spc="0" normalizeH="0" baseline="0" noProof="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00C79390-1C61-9715-1B7C-EA752D536015}"/>
              </a:ext>
            </a:extLst>
          </p:cNvPr>
          <p:cNvSpPr txBox="1"/>
          <p:nvPr/>
        </p:nvSpPr>
        <p:spPr>
          <a:xfrm>
            <a:off x="1219857" y="1310852"/>
            <a:ext cx="9595288" cy="923330"/>
          </a:xfrm>
          <a:prstGeom prst="rect">
            <a:avLst/>
          </a:prstGeom>
          <a:noFill/>
        </p:spPr>
        <p:txBody>
          <a:bodyPr wrap="square">
            <a:spAutoFit/>
          </a:bodyPr>
          <a:lstStyle/>
          <a:p>
            <a:r>
              <a:rPr lang="en-IN" dirty="0"/>
              <a:t>Students have their academic responsibilities, coding activities, goals, schedules, deadlines, and reminders scattered across multiple platforms. The real difficulty is not just tracking these things, but deciding what to work on at a particular time and adapting when plans change.</a:t>
            </a:r>
          </a:p>
        </p:txBody>
      </p:sp>
      <p:graphicFrame>
        <p:nvGraphicFramePr>
          <p:cNvPr id="7" name="Table 6">
            <a:extLst>
              <a:ext uri="{FF2B5EF4-FFF2-40B4-BE49-F238E27FC236}">
                <a16:creationId xmlns:a16="http://schemas.microsoft.com/office/drawing/2014/main" id="{E4E0446F-E9BA-49EF-0A44-583697DDF4EF}"/>
              </a:ext>
            </a:extLst>
          </p:cNvPr>
          <p:cNvGraphicFramePr>
            <a:graphicFrameLocks noGrp="1"/>
          </p:cNvGraphicFramePr>
          <p:nvPr>
            <p:extLst>
              <p:ext uri="{D42A27DB-BD31-4B8C-83A1-F6EECF244321}">
                <p14:modId xmlns:p14="http://schemas.microsoft.com/office/powerpoint/2010/main" val="3090184333"/>
              </p:ext>
            </p:extLst>
          </p:nvPr>
        </p:nvGraphicFramePr>
        <p:xfrm>
          <a:off x="705090" y="2535288"/>
          <a:ext cx="10515600" cy="384048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300024665"/>
                    </a:ext>
                  </a:extLst>
                </a:gridCol>
                <a:gridCol w="5257800">
                  <a:extLst>
                    <a:ext uri="{9D8B030D-6E8A-4147-A177-3AD203B41FA5}">
                      <a16:colId xmlns:a16="http://schemas.microsoft.com/office/drawing/2014/main" val="777821649"/>
                    </a:ext>
                  </a:extLst>
                </a:gridCol>
              </a:tblGrid>
              <a:tr h="0">
                <a:tc>
                  <a:txBody>
                    <a:bodyPr/>
                    <a:lstStyle/>
                    <a:p>
                      <a:pPr>
                        <a:buNone/>
                      </a:pPr>
                      <a:r>
                        <a:rPr lang="en-IN"/>
                        <a:t>Problem</a:t>
                      </a:r>
                    </a:p>
                  </a:txBody>
                  <a:tcPr anchor="ctr"/>
                </a:tc>
                <a:tc>
                  <a:txBody>
                    <a:bodyPr/>
                    <a:lstStyle/>
                    <a:p>
                      <a:pPr>
                        <a:buNone/>
                      </a:pPr>
                      <a:r>
                        <a:rPr lang="en-IN"/>
                        <a:t>What happens to students</a:t>
                      </a:r>
                    </a:p>
                  </a:txBody>
                  <a:tcPr anchor="ctr"/>
                </a:tc>
                <a:extLst>
                  <a:ext uri="{0D108BD9-81ED-4DB2-BD59-A6C34878D82A}">
                    <a16:rowId xmlns:a16="http://schemas.microsoft.com/office/drawing/2014/main" val="2274498107"/>
                  </a:ext>
                </a:extLst>
              </a:tr>
              <a:tr h="0">
                <a:tc>
                  <a:txBody>
                    <a:bodyPr/>
                    <a:lstStyle/>
                    <a:p>
                      <a:pPr>
                        <a:buNone/>
                      </a:pPr>
                      <a:r>
                        <a:rPr lang="en-IN" dirty="0"/>
                        <a:t>Fragmentation</a:t>
                      </a:r>
                    </a:p>
                  </a:txBody>
                  <a:tcPr anchor="ctr"/>
                </a:tc>
                <a:tc>
                  <a:txBody>
                    <a:bodyPr/>
                    <a:lstStyle/>
                    <a:p>
                      <a:pPr>
                        <a:buNone/>
                      </a:pPr>
                      <a:r>
                        <a:rPr lang="en-IN"/>
                        <a:t>Assignments, exams, calendars, coding contests, goals, etc. live in different places</a:t>
                      </a:r>
                    </a:p>
                  </a:txBody>
                  <a:tcPr anchor="ctr"/>
                </a:tc>
                <a:extLst>
                  <a:ext uri="{0D108BD9-81ED-4DB2-BD59-A6C34878D82A}">
                    <a16:rowId xmlns:a16="http://schemas.microsoft.com/office/drawing/2014/main" val="2502669620"/>
                  </a:ext>
                </a:extLst>
              </a:tr>
              <a:tr h="0">
                <a:tc>
                  <a:txBody>
                    <a:bodyPr/>
                    <a:lstStyle/>
                    <a:p>
                      <a:pPr>
                        <a:buNone/>
                      </a:pPr>
                      <a:r>
                        <a:rPr lang="en-IN"/>
                        <a:t>Poor prioritization</a:t>
                      </a:r>
                    </a:p>
                  </a:txBody>
                  <a:tcPr anchor="ctr"/>
                </a:tc>
                <a:tc>
                  <a:txBody>
                    <a:bodyPr/>
                    <a:lstStyle/>
                    <a:p>
                      <a:pPr>
                        <a:buNone/>
                      </a:pPr>
                      <a:r>
                        <a:rPr lang="en-IN"/>
                        <a:t>Students know what is pending but don't know what deserves attention now</a:t>
                      </a:r>
                    </a:p>
                  </a:txBody>
                  <a:tcPr anchor="ctr"/>
                </a:tc>
                <a:extLst>
                  <a:ext uri="{0D108BD9-81ED-4DB2-BD59-A6C34878D82A}">
                    <a16:rowId xmlns:a16="http://schemas.microsoft.com/office/drawing/2014/main" val="3727713130"/>
                  </a:ext>
                </a:extLst>
              </a:tr>
              <a:tr h="0">
                <a:tc>
                  <a:txBody>
                    <a:bodyPr/>
                    <a:lstStyle/>
                    <a:p>
                      <a:pPr>
                        <a:buNone/>
                      </a:pPr>
                      <a:r>
                        <a:rPr lang="en-IN"/>
                        <a:t>Deadline/reminder overload</a:t>
                      </a:r>
                    </a:p>
                  </a:txBody>
                  <a:tcPr anchor="ctr"/>
                </a:tc>
                <a:tc>
                  <a:txBody>
                    <a:bodyPr/>
                    <a:lstStyle/>
                    <a:p>
                      <a:pPr>
                        <a:buNone/>
                      </a:pPr>
                      <a:r>
                        <a:rPr lang="en-IN"/>
                        <a:t>Important events can be missed or reminders become noisy</a:t>
                      </a:r>
                    </a:p>
                  </a:txBody>
                  <a:tcPr anchor="ctr"/>
                </a:tc>
                <a:extLst>
                  <a:ext uri="{0D108BD9-81ED-4DB2-BD59-A6C34878D82A}">
                    <a16:rowId xmlns:a16="http://schemas.microsoft.com/office/drawing/2014/main" val="1845972077"/>
                  </a:ext>
                </a:extLst>
              </a:tr>
              <a:tr h="0">
                <a:tc>
                  <a:txBody>
                    <a:bodyPr/>
                    <a:lstStyle/>
                    <a:p>
                      <a:pPr>
                        <a:buNone/>
                      </a:pPr>
                      <a:r>
                        <a:rPr lang="en-IN"/>
                        <a:t>Static planning</a:t>
                      </a:r>
                    </a:p>
                  </a:txBody>
                  <a:tcPr anchor="ctr"/>
                </a:tc>
                <a:tc>
                  <a:txBody>
                    <a:bodyPr/>
                    <a:lstStyle/>
                    <a:p>
                      <a:pPr>
                        <a:buNone/>
                      </a:pPr>
                      <a:r>
                        <a:rPr lang="en-IN"/>
                        <a:t>A timetable doesn't automatically adapt when tasks are postponed or priorities change</a:t>
                      </a:r>
                    </a:p>
                  </a:txBody>
                  <a:tcPr anchor="ctr"/>
                </a:tc>
                <a:extLst>
                  <a:ext uri="{0D108BD9-81ED-4DB2-BD59-A6C34878D82A}">
                    <a16:rowId xmlns:a16="http://schemas.microsoft.com/office/drawing/2014/main" val="608030464"/>
                  </a:ext>
                </a:extLst>
              </a:tr>
              <a:tr h="0">
                <a:tc>
                  <a:txBody>
                    <a:bodyPr/>
                    <a:lstStyle/>
                    <a:p>
                      <a:pPr>
                        <a:buNone/>
                      </a:pPr>
                      <a:r>
                        <a:rPr lang="en-IN"/>
                        <a:t>No learning from behavior</a:t>
                      </a:r>
                    </a:p>
                  </a:txBody>
                  <a:tcPr anchor="ctr"/>
                </a:tc>
                <a:tc>
                  <a:txBody>
                    <a:bodyPr/>
                    <a:lstStyle/>
                    <a:p>
                      <a:pPr>
                        <a:buNone/>
                      </a:pPr>
                      <a:r>
                        <a:rPr lang="en-IN" dirty="0"/>
                        <a:t>Existing tools generally don't use patterns like postponing tasks or preferred study times to improve future planning</a:t>
                      </a:r>
                    </a:p>
                  </a:txBody>
                  <a:tcPr anchor="ctr"/>
                </a:tc>
                <a:extLst>
                  <a:ext uri="{0D108BD9-81ED-4DB2-BD59-A6C34878D82A}">
                    <a16:rowId xmlns:a16="http://schemas.microsoft.com/office/drawing/2014/main" val="3616964042"/>
                  </a:ext>
                </a:extLst>
              </a:tr>
            </a:tbl>
          </a:graphicData>
        </a:graphic>
      </p:graphicFrame>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0E6FFDE5-FFE7-3126-018E-0B4ACCDF895A}"/>
              </a:ext>
            </a:extLst>
          </p:cNvPr>
          <p:cNvSpPr txBox="1"/>
          <p:nvPr/>
        </p:nvSpPr>
        <p:spPr>
          <a:xfrm>
            <a:off x="1018429" y="1342384"/>
            <a:ext cx="10202261" cy="923330"/>
          </a:xfrm>
          <a:prstGeom prst="rect">
            <a:avLst/>
          </a:prstGeom>
          <a:noFill/>
        </p:spPr>
        <p:txBody>
          <a:bodyPr wrap="square">
            <a:spAutoFit/>
          </a:bodyPr>
          <a:lstStyle/>
          <a:p>
            <a:r>
              <a:rPr lang="en-IN" dirty="0"/>
              <a:t>The objective of SAGE is to help students manage fragmented academic and personal commitments by providing personalized prioritization, adaptive planning, timely reminders, and progress-based recommendations in one unified platform.</a:t>
            </a:r>
          </a:p>
        </p:txBody>
      </p:sp>
      <p:sp>
        <p:nvSpPr>
          <p:cNvPr id="8" name="TextBox 7">
            <a:extLst>
              <a:ext uri="{FF2B5EF4-FFF2-40B4-BE49-F238E27FC236}">
                <a16:creationId xmlns:a16="http://schemas.microsoft.com/office/drawing/2014/main" id="{61EACDF1-F9C4-D24D-8CAF-24C1B3BBB631}"/>
              </a:ext>
            </a:extLst>
          </p:cNvPr>
          <p:cNvSpPr txBox="1"/>
          <p:nvPr/>
        </p:nvSpPr>
        <p:spPr>
          <a:xfrm>
            <a:off x="1018429" y="2183731"/>
            <a:ext cx="10155142" cy="4247317"/>
          </a:xfrm>
          <a:prstGeom prst="rect">
            <a:avLst/>
          </a:prstGeom>
          <a:noFill/>
        </p:spPr>
        <p:txBody>
          <a:bodyPr wrap="square">
            <a:spAutoFit/>
          </a:bodyPr>
          <a:lstStyle/>
          <a:p>
            <a:pPr marL="342900" lvl="0" indent="-342900">
              <a:buFont typeface="Arial" panose="020B0604020202020204" pitchFamily="34" charset="0"/>
              <a:buChar char="•"/>
            </a:pPr>
            <a:r>
              <a:rPr lang="en-IN" b="1" dirty="0"/>
              <a:t>Centralize student activities</a:t>
            </a:r>
            <a:br>
              <a:rPr lang="en-IN" dirty="0"/>
            </a:br>
            <a:r>
              <a:rPr lang="en-IN" dirty="0"/>
              <a:t>Bring tasks, goals, academic schedules, exams, coding contests, and other commitments into one platform. </a:t>
            </a:r>
          </a:p>
          <a:p>
            <a:pPr marL="342900" lvl="0" indent="-342900">
              <a:buFont typeface="Arial" panose="020B0604020202020204" pitchFamily="34" charset="0"/>
              <a:buChar char="•"/>
            </a:pPr>
            <a:r>
              <a:rPr lang="en-IN" b="1" dirty="0"/>
              <a:t>Provide intelligent prioritization</a:t>
            </a:r>
            <a:br>
              <a:rPr lang="en-IN" dirty="0"/>
            </a:br>
            <a:r>
              <a:rPr lang="en-IN" dirty="0"/>
              <a:t>Help students determine </a:t>
            </a:r>
            <a:r>
              <a:rPr lang="en-IN" b="1" dirty="0"/>
              <a:t>what they should focus on right now</a:t>
            </a:r>
            <a:r>
              <a:rPr lang="en-IN" dirty="0"/>
              <a:t> based on urgency, deadlines, available time, and commitments. </a:t>
            </a:r>
          </a:p>
          <a:p>
            <a:pPr marL="342900" lvl="0" indent="-342900">
              <a:buFont typeface="Arial" panose="020B0604020202020204" pitchFamily="34" charset="0"/>
              <a:buChar char="•"/>
            </a:pPr>
            <a:r>
              <a:rPr lang="en-IN" b="1" dirty="0"/>
              <a:t>Enable personalized planning</a:t>
            </a:r>
            <a:br>
              <a:rPr lang="en-IN" dirty="0"/>
            </a:br>
            <a:r>
              <a:rPr lang="en-IN" dirty="0"/>
              <a:t>Use the student's preferences, daily study target, focus rhythm, and availability to create a more suitable work schedule. </a:t>
            </a:r>
          </a:p>
          <a:p>
            <a:pPr marL="342900" lvl="0" indent="-342900">
              <a:buFont typeface="Arial" panose="020B0604020202020204" pitchFamily="34" charset="0"/>
              <a:buChar char="•"/>
            </a:pPr>
            <a:r>
              <a:rPr lang="en-IN" b="1" dirty="0"/>
              <a:t>Provide timely reminders</a:t>
            </a:r>
            <a:br>
              <a:rPr lang="en-IN" dirty="0"/>
            </a:br>
            <a:r>
              <a:rPr lang="en-IN" dirty="0"/>
              <a:t>Notify students about important tasks, exams, goals, and coding contests through appropriate channels such as in-app and email notifications. </a:t>
            </a:r>
          </a:p>
          <a:p>
            <a:pPr marL="342900" lvl="0" indent="-342900">
              <a:buFont typeface="Arial" panose="020B0604020202020204" pitchFamily="34" charset="0"/>
              <a:buChar char="•"/>
            </a:pPr>
            <a:r>
              <a:rPr lang="en-IN" b="1" dirty="0"/>
              <a:t>Adapt to changing plans</a:t>
            </a:r>
            <a:br>
              <a:rPr lang="en-IN" dirty="0"/>
            </a:br>
            <a:r>
              <a:rPr lang="en-IN" dirty="0"/>
              <a:t>Allow students to reschedule, postpone, snooze, or complete tasks while keeping the plan updated accordingly.</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344012633"/>
              </p:ext>
            </p:extLst>
          </p:nvPr>
        </p:nvGraphicFramePr>
        <p:xfrm>
          <a:off x="274646" y="689466"/>
          <a:ext cx="11642705" cy="468207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a:latin typeface="Times New Roman" pitchFamily="18" charset="0"/>
                          <a:cs typeface="Times New Roman" pitchFamily="18" charset="0"/>
                        </a:rPr>
                        <a:t>Methodology</a:t>
                      </a:r>
                    </a:p>
                  </a:txBody>
                  <a:tcPr>
                    <a:solidFill>
                      <a:srgbClr val="FFFF00"/>
                    </a:solidFill>
                  </a:tcPr>
                </a:tc>
                <a:tc>
                  <a:txBody>
                    <a:bodyPr/>
                    <a:lstStyle/>
                    <a:p>
                      <a:pPr algn="ctr">
                        <a:buNone/>
                      </a:pPr>
                      <a:r>
                        <a:rPr lang="en-US">
                          <a:latin typeface="Times New Roman" pitchFamily="18" charset="0"/>
                          <a:cs typeface="Times New Roman" pitchFamily="18" charset="0"/>
                        </a:rPr>
                        <a:t>Inferences</a:t>
                      </a:r>
                    </a:p>
                  </a:txBody>
                  <a:tcPr>
                    <a:solidFill>
                      <a:srgbClr val="FFFF00"/>
                    </a:solidFill>
                  </a:tcPr>
                </a:tc>
                <a:tc>
                  <a:txBody>
                    <a:bodyPr/>
                    <a:lstStyle/>
                    <a:p>
                      <a:pPr algn="ctr">
                        <a:buNone/>
                      </a:pPr>
                      <a:r>
                        <a:rPr lang="en-US">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b="0" i="0" u="none" kern="1200">
                          <a:solidFill>
                            <a:srgbClr val="202020"/>
                          </a:solidFill>
                          <a:effectLst/>
                          <a:latin typeface="Times New Roman" panose="02020603050405020304" pitchFamily="18" charset="0"/>
                          <a:ea typeface="+mn-ea"/>
                          <a:cs typeface="Times New Roman" panose="02020603050405020304" pitchFamily="18" charset="0"/>
                        </a:rPr>
                        <a:t>Dragoni et al. [1]</a:t>
                      </a:r>
                    </a:p>
                  </a:txBody>
                  <a:tcPr/>
                </a:tc>
                <a:tc>
                  <a:txBody>
                    <a:bodyPr/>
                    <a:lstStyle/>
                    <a:p>
                      <a:r>
                        <a:rPr lang="en-IN" sz="1400" b="0" i="0" u="none" strike="noStrike" kern="1200">
                          <a:solidFill>
                            <a:srgbClr val="202020"/>
                          </a:solidFill>
                          <a:effectLst/>
                          <a:latin typeface="Times New Roman" panose="02020603050405020304" pitchFamily="18" charset="0"/>
                          <a:ea typeface="+mn-ea"/>
                          <a:cs typeface="Times New Roman" panose="02020603050405020304" pitchFamily="18" charset="0"/>
                        </a:rPr>
                        <a:t>Microservices: Yesterday, Today, and Tomorrow, Springer, 2017</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pPr>
                      <a:r>
                        <a:rPr lang="en-IN" sz="1400" b="0" i="0" kern="1200">
                          <a:solidFill>
                            <a:srgbClr val="202020"/>
                          </a:solidFill>
                          <a:effectLst/>
                          <a:latin typeface="Times New Roman" panose="02020603050405020304" pitchFamily="18" charset="0"/>
                          <a:ea typeface="+mn-ea"/>
                          <a:cs typeface="Times New Roman" panose="02020603050405020304" pitchFamily="18" charset="0"/>
                        </a:rPr>
                        <a:t>Literature review and architectural analysis of the evolution from SOA to microservices</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pPr>
                      <a:r>
                        <a:rPr lang="en-IN" sz="1400" b="0" i="0" kern="1200">
                          <a:solidFill>
                            <a:srgbClr val="202020"/>
                          </a:solidFill>
                          <a:effectLst/>
                          <a:latin typeface="Times New Roman" panose="02020603050405020304" pitchFamily="18" charset="0"/>
                          <a:ea typeface="+mn-ea"/>
                          <a:cs typeface="Times New Roman" panose="02020603050405020304" pitchFamily="18" charset="0"/>
                        </a:rPr>
                        <a:t>Establishes microservices as an architectural style inspired by service-oriented computing; identifies core traits: independent deployability, per-service data ownership, and decentralized governance</a:t>
                      </a:r>
                    </a:p>
                  </a:txBody>
                  <a:tcPr/>
                </a:tc>
                <a:tc>
                  <a:txBody>
                    <a:bodyPr/>
                    <a:lstStyle/>
                    <a:p>
                      <a:pPr marL="285750" indent="-285750" algn="l" defTabSz="914400" rtl="0" eaLnBrk="1" latinLnBrk="0" hangingPunct="1">
                        <a:buFont typeface="Arial" panose="020B0604020202020204" pitchFamily="34" charset="0"/>
                      </a:pPr>
                      <a:r>
                        <a:rPr lang="en-IN" sz="1400" b="0" i="0" u="none" kern="1200">
                          <a:solidFill>
                            <a:srgbClr val="202020"/>
                          </a:solidFill>
                          <a:effectLst/>
                          <a:latin typeface="Times New Roman" panose="02020603050405020304" pitchFamily="18" charset="0"/>
                          <a:ea typeface="+mn-ea"/>
                          <a:cs typeface="Times New Roman" panose="02020603050405020304" pitchFamily="18" charset="0"/>
                          <a:sym typeface="Arial"/>
                        </a:rPr>
                        <a:t>Primarily conceptual; does not evaluate a working implementation or provide empirical performance benchmarks</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sz="1100">
                          <a:latin typeface="Times New Roman"/>
                        </a:rPr>
                        <a:t>Harshitha et al. [2]</a:t>
                      </a:r>
                      <a:endParaRPr lang="en-IN" sz="1400" b="0" i="0" u="none" kern="120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sz="1100">
                          <a:latin typeface="Times New Roman"/>
                        </a:rPr>
                        <a:t>Architecting Event-Driven Microservices: Unlocking Asynchronous Communication with Kafka and RabbitMQ, 2025</a:t>
                      </a:r>
                      <a:endParaRPr lang="en-IN" sz="1400" b="1" i="0" u="none" kern="120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pPr>
                      <a:r>
                        <a:rPr sz="1100">
                          <a:latin typeface="Times New Roman"/>
                        </a:rPr>
                        <a:t>Comparative survey of Apache Kafka and RabbitMQ for asynchronous inter-service communication in microservice systems</a:t>
                      </a: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pPr>
                      <a:r>
                        <a:rPr sz="1100">
                          <a:latin typeface="Times New Roman"/>
                        </a:rPr>
                        <a:t>Kafka provides high-throughput, distributed event streaming well suited to real-time, loosely coupled service communication such as deadline and digest events</a:t>
                      </a: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pPr>
                      <a:r>
                        <a:rPr sz="1100">
                          <a:latin typeface="Times New Roman"/>
                        </a:rPr>
                        <a:t>Does not address service decomposition granularity or LLM-driven consumers of the event stream</a:t>
                      </a:r>
                      <a:endParaRPr lang="en-US" sz="1400" b="0" i="0" u="none" kern="120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sz="1100">
                          <a:latin typeface="Times New Roman"/>
                        </a:rPr>
                        <a:t>Sundrababu et al. [3]</a:t>
                      </a:r>
                      <a:endParaRPr lang="en-IN" sz="1400" b="1" i="0" u="none" kern="120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sz="1100">
                          <a:latin typeface="Times New Roman"/>
                        </a:rPr>
                        <a:t>Student Learning Assistant Based on Adaptive LLM, IJERT, 2026</a:t>
                      </a:r>
                      <a:endParaRPr lang="en-IN" sz="1400" b="1" i="0" u="none" kern="120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pPr>
                      <a:r>
                        <a:rPr sz="1100">
                          <a:latin typeface="Times New Roman"/>
                        </a:rPr>
                        <a:t>Web-based adaptive LLM assistant offering individualized academic support and auto-generated assessments from syllabus content</a:t>
                      </a:r>
                      <a:endParaRPr lang="en-US" sz="1400" b="0" u="none" kern="120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pPr>
                      <a:r>
                        <a:rPr sz="1100">
                          <a:latin typeface="Times New Roman"/>
                        </a:rPr>
                        <a:t>Demonstrates that LLMs can personalize academic guidance per student, improving on one-size-fits-all learning platforms</a:t>
                      </a: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pPr>
                      <a:r>
                        <a:rPr sz="1100">
                          <a:latin typeface="Times New Roman"/>
                        </a:rPr>
                        <a:t>Focused on tutoring/assessment generation rather than calendar-driven task prioritization or event-driven system design</a:t>
                      </a:r>
                      <a:endParaRPr lang="en-US" sz="1400" b="1" i="0" u="none" kern="120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62F78068-ED25-FF6D-6B9D-0D07D80226D9}"/>
              </a:ext>
            </a:extLst>
          </p:cNvPr>
          <p:cNvSpPr txBox="1"/>
          <p:nvPr/>
        </p:nvSpPr>
        <p:spPr>
          <a:xfrm>
            <a:off x="351439" y="1246409"/>
            <a:ext cx="6097314" cy="5078313"/>
          </a:xfrm>
          <a:prstGeom prst="rect">
            <a:avLst/>
          </a:prstGeom>
          <a:noFill/>
          <a:ln>
            <a:solidFill>
              <a:schemeClr val="tx1"/>
            </a:solidFill>
          </a:ln>
        </p:spPr>
        <p:txBody>
          <a:bodyPr wrap="square">
            <a:spAutoFit/>
          </a:bodyPr>
          <a:lstStyle/>
          <a:p>
            <a:pPr>
              <a:buNone/>
            </a:pPr>
            <a:r>
              <a:rPr lang="en-IN" b="1" dirty="0"/>
              <a:t>Key gaps</a:t>
            </a:r>
          </a:p>
          <a:p>
            <a:pPr marL="342900" lvl="0" indent="-342900">
              <a:buFont typeface="+mj-lt"/>
              <a:buAutoNum type="arabicPeriod"/>
            </a:pPr>
            <a:r>
              <a:rPr lang="en-IN" b="1" dirty="0"/>
              <a:t>Fragmented information</a:t>
            </a:r>
            <a:r>
              <a:rPr lang="en-IN" dirty="0"/>
              <a:t> </a:t>
            </a:r>
          </a:p>
          <a:p>
            <a:pPr marL="742950" lvl="1" indent="-285750">
              <a:buFont typeface="+mj-lt"/>
              <a:buAutoNum type="arabicPeriod"/>
            </a:pPr>
            <a:r>
              <a:rPr lang="en-IN" dirty="0"/>
              <a:t>Academic tasks, calendars, exams, coding contests, goals, and reminders are often managed through separate platforms. </a:t>
            </a:r>
          </a:p>
          <a:p>
            <a:pPr marL="742950" lvl="1" indent="-285750">
              <a:buFont typeface="+mj-lt"/>
              <a:buAutoNum type="arabicPeriod"/>
            </a:pPr>
            <a:r>
              <a:rPr lang="en-IN" dirty="0"/>
              <a:t>Students have to manually combine this information to understand their overall workload. </a:t>
            </a:r>
          </a:p>
          <a:p>
            <a:pPr marL="342900" lvl="0" indent="-342900">
              <a:buFont typeface="+mj-lt"/>
              <a:buAutoNum type="arabicPeriod"/>
            </a:pPr>
            <a:r>
              <a:rPr lang="en-IN" b="1" dirty="0"/>
              <a:t>Tracking without intelligent prioritization</a:t>
            </a:r>
            <a:r>
              <a:rPr lang="en-IN" dirty="0"/>
              <a:t> </a:t>
            </a:r>
          </a:p>
          <a:p>
            <a:pPr marL="742950" lvl="1" indent="-285750">
              <a:buFont typeface="+mj-lt"/>
              <a:buAutoNum type="arabicPeriod"/>
            </a:pPr>
            <a:r>
              <a:rPr lang="en-IN" dirty="0"/>
              <a:t>Conventional task and calendar applications show </a:t>
            </a:r>
            <a:r>
              <a:rPr lang="en-IN" i="1" dirty="0"/>
              <a:t>what is pending</a:t>
            </a:r>
            <a:r>
              <a:rPr lang="en-IN" dirty="0"/>
              <a:t>. </a:t>
            </a:r>
          </a:p>
          <a:p>
            <a:pPr marL="742950" lvl="1" indent="-285750">
              <a:buFont typeface="+mj-lt"/>
              <a:buAutoNum type="arabicPeriod"/>
            </a:pPr>
            <a:r>
              <a:rPr lang="en-IN" dirty="0"/>
              <a:t>They generally do not provide a unified, context-aware answer to </a:t>
            </a:r>
            <a:r>
              <a:rPr lang="en-IN" b="1" dirty="0"/>
              <a:t>“What should I focus on right now?”</a:t>
            </a:r>
            <a:r>
              <a:rPr lang="en-IN" dirty="0"/>
              <a:t> </a:t>
            </a:r>
          </a:p>
          <a:p>
            <a:pPr marL="342900" lvl="0" indent="-342900">
              <a:buFont typeface="+mj-lt"/>
              <a:buAutoNum type="arabicPeriod"/>
            </a:pPr>
            <a:r>
              <a:rPr lang="en-IN" b="1" dirty="0"/>
              <a:t>Static planning</a:t>
            </a:r>
            <a:r>
              <a:rPr lang="en-IN" dirty="0"/>
              <a:t> </a:t>
            </a:r>
          </a:p>
          <a:p>
            <a:pPr marL="742950" lvl="1" indent="-285750">
              <a:buFont typeface="+mj-lt"/>
              <a:buAutoNum type="arabicPeriod"/>
            </a:pPr>
            <a:r>
              <a:rPr lang="en-IN" dirty="0"/>
              <a:t>Traditional schedules are usually created once. </a:t>
            </a:r>
          </a:p>
          <a:p>
            <a:pPr marL="742950" lvl="1" indent="-285750">
              <a:buFont typeface="+mj-lt"/>
              <a:buAutoNum type="arabicPeriod"/>
            </a:pPr>
            <a:r>
              <a:rPr lang="en-IN" dirty="0"/>
              <a:t>When a student postpones a task, misses a study session, or receives a new deadline, the plan may require manual restructuring.</a:t>
            </a:r>
          </a:p>
        </p:txBody>
      </p:sp>
      <p:sp>
        <p:nvSpPr>
          <p:cNvPr id="8" name="TextBox 7">
            <a:extLst>
              <a:ext uri="{FF2B5EF4-FFF2-40B4-BE49-F238E27FC236}">
                <a16:creationId xmlns:a16="http://schemas.microsoft.com/office/drawing/2014/main" id="{4F266CFA-D2FC-2C39-C20C-5EEFC10A1142}"/>
              </a:ext>
            </a:extLst>
          </p:cNvPr>
          <p:cNvSpPr txBox="1"/>
          <p:nvPr/>
        </p:nvSpPr>
        <p:spPr>
          <a:xfrm>
            <a:off x="6597694" y="1246409"/>
            <a:ext cx="5460124" cy="5355312"/>
          </a:xfrm>
          <a:prstGeom prst="rect">
            <a:avLst/>
          </a:prstGeom>
          <a:noFill/>
          <a:ln>
            <a:solidFill>
              <a:schemeClr val="tx1"/>
            </a:solidFill>
          </a:ln>
        </p:spPr>
        <p:txBody>
          <a:bodyPr wrap="square">
            <a:spAutoFit/>
          </a:bodyPr>
          <a:lstStyle/>
          <a:p>
            <a:pPr marL="342900" lvl="0" indent="-342900">
              <a:buFont typeface="Arial" panose="020B0604020202020204" pitchFamily="34" charset="0"/>
              <a:buChar char="•"/>
            </a:pPr>
            <a:r>
              <a:rPr lang="en-IN" b="1" dirty="0"/>
              <a:t>Limited personalization</a:t>
            </a:r>
            <a:r>
              <a:rPr lang="en-IN" dirty="0"/>
              <a:t> </a:t>
            </a:r>
          </a:p>
          <a:p>
            <a:pPr marL="742950" lvl="1" indent="-285750">
              <a:buFont typeface="Arial" panose="020B0604020202020204" pitchFamily="34" charset="0"/>
              <a:buChar char="•"/>
            </a:pPr>
            <a:r>
              <a:rPr lang="en-IN" dirty="0"/>
              <a:t>Generic productivity tools may not sufficiently account for individual factors such as preferred study time, daily study targets, focus-session preferences, and workload. </a:t>
            </a:r>
          </a:p>
          <a:p>
            <a:pPr marL="342900" lvl="0" indent="-342900">
              <a:buFont typeface="Arial" panose="020B0604020202020204" pitchFamily="34" charset="0"/>
              <a:buChar char="•"/>
            </a:pPr>
            <a:r>
              <a:rPr lang="en-IN" b="1" dirty="0"/>
              <a:t>Disconnected coding-contest information</a:t>
            </a:r>
            <a:r>
              <a:rPr lang="en-IN" dirty="0"/>
              <a:t> </a:t>
            </a:r>
          </a:p>
          <a:p>
            <a:pPr marL="742950" lvl="1" indent="-285750">
              <a:buFont typeface="Arial" panose="020B0604020202020204" pitchFamily="34" charset="0"/>
              <a:buChar char="•"/>
            </a:pPr>
            <a:r>
              <a:rPr lang="en-IN" dirty="0"/>
              <a:t>Students who participate in multiple coding platforms may need to check different sources for upcoming contests. </a:t>
            </a:r>
          </a:p>
          <a:p>
            <a:pPr marL="742950" lvl="1" indent="-285750">
              <a:buFont typeface="Arial" panose="020B0604020202020204" pitchFamily="34" charset="0"/>
              <a:buChar char="•"/>
            </a:pPr>
            <a:r>
              <a:rPr lang="en-IN" dirty="0"/>
              <a:t>A unified contest view with personalized platform selection and reminders addresses this gap. </a:t>
            </a:r>
          </a:p>
          <a:p>
            <a:pPr marL="342900" lvl="0" indent="-342900">
              <a:buFont typeface="Arial" panose="020B0604020202020204" pitchFamily="34" charset="0"/>
              <a:buChar char="•"/>
            </a:pPr>
            <a:r>
              <a:rPr lang="en-IN" b="1" dirty="0"/>
              <a:t>Reminder overload or missed reminders</a:t>
            </a:r>
            <a:r>
              <a:rPr lang="en-IN" dirty="0"/>
              <a:t> </a:t>
            </a:r>
          </a:p>
          <a:p>
            <a:pPr marL="742950" lvl="1" indent="-285750">
              <a:buFont typeface="Arial" panose="020B0604020202020204" pitchFamily="34" charset="0"/>
              <a:buChar char="•"/>
            </a:pPr>
            <a:r>
              <a:rPr lang="en-IN" dirty="0"/>
              <a:t>Students may receive reminders without considering their actual schedule and priorities. </a:t>
            </a:r>
          </a:p>
          <a:p>
            <a:pPr marL="742950" lvl="1" indent="-285750">
              <a:buFont typeface="Arial" panose="020B0604020202020204" pitchFamily="34" charset="0"/>
              <a:buChar char="•"/>
            </a:pPr>
            <a:r>
              <a:rPr lang="en-IN" dirty="0"/>
              <a:t>There is a need for reminders that are connected to the student's tasks, deadlines, contests, and preferences.</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895999" y="1781033"/>
            <a:ext cx="10400000" cy="4200000"/>
          </a:xfrm>
          <a:prstGeom prst="rect">
            <a:avLst/>
          </a:prstGeom>
          <a:noFill/>
        </p:spPr>
        <p:txBody>
          <a:bodyPr wrap="square">
            <a:spAutoFit/>
          </a:bodyPr>
          <a:lstStyle/>
          <a:p>
            <a:pPr>
              <a:spcAft>
                <a:spcPts val="1400"/>
              </a:spcAft>
            </a:pPr>
            <a:r>
              <a:rPr sz="1800" dirty="0">
                <a:solidFill>
                  <a:srgbClr val="202020"/>
                </a:solidFill>
                <a:latin typeface="Times New Roman"/>
              </a:rPr>
              <a:t>•  Career-aware prioritization: SAGE ranks tasks not just by due date but by grade weight and alignment with the student's stated career goal.</a:t>
            </a:r>
          </a:p>
          <a:p>
            <a:pPr>
              <a:spcAft>
                <a:spcPts val="1400"/>
              </a:spcAft>
            </a:pPr>
            <a:r>
              <a:rPr sz="1800" dirty="0">
                <a:solidFill>
                  <a:srgbClr val="202020"/>
                </a:solidFill>
                <a:latin typeface="Times New Roman"/>
              </a:rPr>
              <a:t>•  Dual-LLM resilience design: a free cloud LLM (</a:t>
            </a:r>
            <a:r>
              <a:rPr sz="1800" dirty="0" err="1">
                <a:solidFill>
                  <a:srgbClr val="202020"/>
                </a:solidFill>
                <a:latin typeface="Times New Roman"/>
              </a:rPr>
              <a:t>Groq</a:t>
            </a:r>
            <a:r>
              <a:rPr sz="1800" dirty="0">
                <a:solidFill>
                  <a:srgbClr val="202020"/>
                </a:solidFill>
                <a:latin typeface="Times New Roman"/>
              </a:rPr>
              <a:t>) serves as the primary reasoning engine, with an automatic, zero-cost local fallback (</a:t>
            </a:r>
            <a:r>
              <a:rPr sz="1800" dirty="0" err="1">
                <a:solidFill>
                  <a:srgbClr val="202020"/>
                </a:solidFill>
                <a:latin typeface="Times New Roman"/>
              </a:rPr>
              <a:t>Ollama</a:t>
            </a:r>
            <a:r>
              <a:rPr sz="1800" dirty="0">
                <a:solidFill>
                  <a:srgbClr val="202020"/>
                </a:solidFill>
                <a:latin typeface="Times New Roman"/>
              </a:rPr>
              <a:t>) triggered via a Resilience4j circuit breaker.</a:t>
            </a:r>
          </a:p>
          <a:p>
            <a:pPr>
              <a:spcAft>
                <a:spcPts val="1400"/>
              </a:spcAft>
            </a:pPr>
            <a:r>
              <a:rPr sz="1800" dirty="0">
                <a:solidFill>
                  <a:srgbClr val="202020"/>
                </a:solidFill>
                <a:latin typeface="Times New Roman"/>
              </a:rPr>
              <a:t>•  Fully event-driven core: deadline detection, digest generation, and notification delivery are decoupled through Kafka rather than tightly coupled synchronous calls.</a:t>
            </a:r>
          </a:p>
          <a:p>
            <a:pPr>
              <a:spcAft>
                <a:spcPts val="1400"/>
              </a:spcAft>
            </a:pPr>
            <a:r>
              <a:rPr sz="1800" dirty="0">
                <a:solidFill>
                  <a:srgbClr val="202020"/>
                </a:solidFill>
                <a:latin typeface="Times New Roman"/>
              </a:rPr>
              <a:t>•  Zero-cost architecture: every component — service discovery, messaging, caching, observability, and the LLM itself — runs on free-tier or self-hosted infrastructure.</a:t>
            </a:r>
          </a:p>
          <a:p>
            <a:pPr>
              <a:spcAft>
                <a:spcPts val="1400"/>
              </a:spcAft>
            </a:pPr>
            <a:r>
              <a:rPr sz="1800" dirty="0">
                <a:solidFill>
                  <a:srgbClr val="202020"/>
                </a:solidFill>
                <a:latin typeface="Times New Roman"/>
              </a:rPr>
              <a:t>•  Transparent AI reasoning: every generated priority includes a plain-language rationale, so the student sees why a task was ranked highly, not just what to do.</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381398" y="1743891"/>
            <a:ext cx="10400000" cy="1000000"/>
          </a:xfrm>
          <a:prstGeom prst="rect">
            <a:avLst/>
          </a:prstGeom>
          <a:noFill/>
        </p:spPr>
        <p:txBody>
          <a:bodyPr wrap="square" rtlCol="0">
            <a:spAutoFit/>
          </a:bodyPr>
          <a:lstStyle/>
          <a:p>
            <a:r>
              <a:rPr lang="en-US" sz="1400" b="0">
                <a:solidFill>
                  <a:srgbClr val="202020"/>
                </a:solidFill>
                <a:latin typeface="Times New Roman"/>
              </a:rPr>
              <a:t>All core components — Spring Boot, Spring Cloud, Kafka, PostgreSQL, Redis, and Docker — are open-source and self-hosted at zero cost. The Groq API and a local Ollama fallback eliminate LLM subscription fees, and the Google Calendar API and Gmail SMTP operate free within their standard quotas. The project is scoped to a single, demonstrable core loop — calendar deadline to AI-generated digest to notification — making it feasible to build end-to-end within a four-week academic timeline.</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6" name="Table 5"/>
          <p:cNvGraphicFramePr>
            <a:graphicFrameLocks noGrp="1"/>
          </p:cNvGraphicFramePr>
          <p:nvPr/>
        </p:nvGraphicFramePr>
        <p:xfrm>
          <a:off x="900000" y="2950000"/>
          <a:ext cx="10400000" cy="2600000"/>
        </p:xfrm>
        <a:graphic>
          <a:graphicData uri="http://schemas.openxmlformats.org/drawingml/2006/table">
            <a:tbl>
              <a:tblPr firstRow="1" bandRow="1">
                <a:tableStyleId>{5C22544A-7EE6-4342-B048-85BDC9FD1C3A}</a:tableStyleId>
              </a:tblPr>
              <a:tblGrid>
                <a:gridCol w="32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5400000">
                  <a:extLst>
                    <a:ext uri="{9D8B030D-6E8A-4147-A177-3AD203B41FA5}">
                      <a16:colId xmlns:a16="http://schemas.microsoft.com/office/drawing/2014/main" val="20002"/>
                    </a:ext>
                  </a:extLst>
                </a:gridCol>
              </a:tblGrid>
              <a:tr h="520000">
                <a:tc>
                  <a:txBody>
                    <a:bodyPr/>
                    <a:lstStyle/>
                    <a:p>
                      <a:r>
                        <a:rPr sz="1200" b="1">
                          <a:solidFill>
                            <a:srgbClr val="000000"/>
                          </a:solidFill>
                          <a:latin typeface="Times New Roman"/>
                        </a:rPr>
                        <a:t>Phase</a:t>
                      </a:r>
                    </a:p>
                  </a:txBody>
                  <a:tcPr>
                    <a:solidFill>
                      <a:srgbClr val="FFFF00"/>
                    </a:solidFill>
                  </a:tcPr>
                </a:tc>
                <a:tc>
                  <a:txBody>
                    <a:bodyPr/>
                    <a:lstStyle/>
                    <a:p>
                      <a:r>
                        <a:rPr sz="1200" b="1">
                          <a:solidFill>
                            <a:srgbClr val="000000"/>
                          </a:solidFill>
                          <a:latin typeface="Times New Roman"/>
                        </a:rPr>
                        <a:t>Duration</a:t>
                      </a:r>
                    </a:p>
                  </a:txBody>
                  <a:tcPr>
                    <a:solidFill>
                      <a:srgbClr val="FFFF00"/>
                    </a:solidFill>
                  </a:tcPr>
                </a:tc>
                <a:tc>
                  <a:txBody>
                    <a:bodyPr/>
                    <a:lstStyle/>
                    <a:p>
                      <a:r>
                        <a:rPr sz="1200" b="1">
                          <a:solidFill>
                            <a:srgbClr val="000000"/>
                          </a:solidFill>
                          <a:latin typeface="Times New Roman"/>
                        </a:rPr>
                        <a:t>Key Deliverable</a:t>
                      </a:r>
                    </a:p>
                  </a:txBody>
                  <a:tcPr>
                    <a:solidFill>
                      <a:srgbClr val="FFFF00"/>
                    </a:solidFill>
                  </a:tcPr>
                </a:tc>
                <a:extLst>
                  <a:ext uri="{0D108BD9-81ED-4DB2-BD59-A6C34878D82A}">
                    <a16:rowId xmlns:a16="http://schemas.microsoft.com/office/drawing/2014/main" val="10000"/>
                  </a:ext>
                </a:extLst>
              </a:tr>
              <a:tr h="520000">
                <a:tc>
                  <a:txBody>
                    <a:bodyPr/>
                    <a:lstStyle/>
                    <a:p>
                      <a:r>
                        <a:rPr sz="1200" b="0">
                          <a:latin typeface="Times New Roman"/>
                        </a:rPr>
                        <a:t>1. Architecture Foundation</a:t>
                      </a:r>
                    </a:p>
                  </a:txBody>
                  <a:tcPr>
                    <a:solidFill>
                      <a:srgbClr val="FFFFFF"/>
                    </a:solidFill>
                  </a:tcPr>
                </a:tc>
                <a:tc>
                  <a:txBody>
                    <a:bodyPr/>
                    <a:lstStyle/>
                    <a:p>
                      <a:r>
                        <a:rPr sz="1200" b="0">
                          <a:latin typeface="Times New Roman"/>
                        </a:rPr>
                        <a:t>Week 1</a:t>
                      </a:r>
                    </a:p>
                  </a:txBody>
                  <a:tcPr>
                    <a:solidFill>
                      <a:srgbClr val="FFFFFF"/>
                    </a:solidFill>
                  </a:tcPr>
                </a:tc>
                <a:tc>
                  <a:txBody>
                    <a:bodyPr/>
                    <a:lstStyle/>
                    <a:p>
                      <a:r>
                        <a:rPr sz="1200" b="0">
                          <a:latin typeface="Times New Roman"/>
                        </a:rPr>
                        <a:t>Eureka Server, Config Server, and API Gateway running; landing page built</a:t>
                      </a:r>
                    </a:p>
                  </a:txBody>
                  <a:tcPr>
                    <a:solidFill>
                      <a:srgbClr val="FFFFFF"/>
                    </a:solidFill>
                  </a:tcPr>
                </a:tc>
                <a:extLst>
                  <a:ext uri="{0D108BD9-81ED-4DB2-BD59-A6C34878D82A}">
                    <a16:rowId xmlns:a16="http://schemas.microsoft.com/office/drawing/2014/main" val="10001"/>
                  </a:ext>
                </a:extLst>
              </a:tr>
              <a:tr h="520000">
                <a:tc>
                  <a:txBody>
                    <a:bodyPr/>
                    <a:lstStyle/>
                    <a:p>
                      <a:r>
                        <a:rPr sz="1200" b="0">
                          <a:latin typeface="Times New Roman"/>
                        </a:rPr>
                        <a:t>2. Identity &amp; Data Services</a:t>
                      </a:r>
                    </a:p>
                  </a:txBody>
                  <a:tcPr>
                    <a:solidFill>
                      <a:srgbClr val="FFFFFF"/>
                    </a:solidFill>
                  </a:tcPr>
                </a:tc>
                <a:tc>
                  <a:txBody>
                    <a:bodyPr/>
                    <a:lstStyle/>
                    <a:p>
                      <a:r>
                        <a:rPr sz="1200" b="0">
                          <a:latin typeface="Times New Roman"/>
                        </a:rPr>
                        <a:t>Week 2</a:t>
                      </a:r>
                    </a:p>
                  </a:txBody>
                  <a:tcPr>
                    <a:solidFill>
                      <a:srgbClr val="FFFFFF"/>
                    </a:solidFill>
                  </a:tcPr>
                </a:tc>
                <a:tc>
                  <a:txBody>
                    <a:bodyPr/>
                    <a:lstStyle/>
                    <a:p>
                      <a:r>
                        <a:rPr sz="1200" b="0">
                          <a:latin typeface="Times New Roman"/>
                        </a:rPr>
                        <a:t>Google OAuth2 login; Calendar Ingestion and Profile services live with real data</a:t>
                      </a:r>
                    </a:p>
                  </a:txBody>
                  <a:tcPr>
                    <a:solidFill>
                      <a:srgbClr val="FFFFFF"/>
                    </a:solidFill>
                  </a:tcPr>
                </a:tc>
                <a:extLst>
                  <a:ext uri="{0D108BD9-81ED-4DB2-BD59-A6C34878D82A}">
                    <a16:rowId xmlns:a16="http://schemas.microsoft.com/office/drawing/2014/main" val="10002"/>
                  </a:ext>
                </a:extLst>
              </a:tr>
              <a:tr h="520000">
                <a:tc>
                  <a:txBody>
                    <a:bodyPr/>
                    <a:lstStyle/>
                    <a:p>
                      <a:r>
                        <a:rPr sz="1200" b="0">
                          <a:latin typeface="Times New Roman"/>
                        </a:rPr>
                        <a:t>3. Intelligence Core</a:t>
                      </a:r>
                    </a:p>
                  </a:txBody>
                  <a:tcPr>
                    <a:solidFill>
                      <a:srgbClr val="FFFFFF"/>
                    </a:solidFill>
                  </a:tcPr>
                </a:tc>
                <a:tc>
                  <a:txBody>
                    <a:bodyPr/>
                    <a:lstStyle/>
                    <a:p>
                      <a:r>
                        <a:rPr sz="1200" b="0">
                          <a:latin typeface="Times New Roman"/>
                        </a:rPr>
                        <a:t>Week 3</a:t>
                      </a:r>
                    </a:p>
                  </a:txBody>
                  <a:tcPr>
                    <a:solidFill>
                      <a:srgbClr val="FFFFFF"/>
                    </a:solidFill>
                  </a:tcPr>
                </a:tc>
                <a:tc>
                  <a:txBody>
                    <a:bodyPr/>
                    <a:lstStyle/>
                    <a:p>
                      <a:r>
                        <a:rPr sz="1200" b="0">
                          <a:latin typeface="Times New Roman"/>
                        </a:rPr>
                        <a:t>Kafka event bus wired; SAGE Brain generating real AI-driven priority digests</a:t>
                      </a:r>
                    </a:p>
                  </a:txBody>
                  <a:tcPr>
                    <a:solidFill>
                      <a:srgbClr val="FFFFFF"/>
                    </a:solidFill>
                  </a:tcPr>
                </a:tc>
                <a:extLst>
                  <a:ext uri="{0D108BD9-81ED-4DB2-BD59-A6C34878D82A}">
                    <a16:rowId xmlns:a16="http://schemas.microsoft.com/office/drawing/2014/main" val="10003"/>
                  </a:ext>
                </a:extLst>
              </a:tr>
              <a:tr h="520000">
                <a:tc>
                  <a:txBody>
                    <a:bodyPr/>
                    <a:lstStyle/>
                    <a:p>
                      <a:r>
                        <a:rPr sz="1200" b="0">
                          <a:latin typeface="Times New Roman"/>
                        </a:rPr>
                        <a:t>4. Delivery &amp; Reliability</a:t>
                      </a:r>
                    </a:p>
                  </a:txBody>
                  <a:tcPr>
                    <a:solidFill>
                      <a:srgbClr val="FFFFFF"/>
                    </a:solidFill>
                  </a:tcPr>
                </a:tc>
                <a:tc>
                  <a:txBody>
                    <a:bodyPr/>
                    <a:lstStyle/>
                    <a:p>
                      <a:r>
                        <a:rPr sz="1200" b="0">
                          <a:latin typeface="Times New Roman"/>
                        </a:rPr>
                        <a:t>Week 4</a:t>
                      </a:r>
                    </a:p>
                  </a:txBody>
                  <a:tcPr>
                    <a:solidFill>
                      <a:srgbClr val="FFFFFF"/>
                    </a:solidFill>
                  </a:tcPr>
                </a:tc>
                <a:tc>
                  <a:txBody>
                    <a:bodyPr/>
                    <a:lstStyle/>
                    <a:p>
                      <a:r>
                        <a:rPr sz="1200" b="0">
                          <a:latin typeface="Times New Roman"/>
                        </a:rPr>
                        <a:t>Notification delivery, Resilience4j fallback, full observability stack, final demo</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Dataset and Data Sources (1 of 2)</a:t>
            </a:r>
          </a:p>
        </p:txBody>
      </p:sp>
      <p:sp>
        <p:nvSpPr>
          <p:cNvPr id="4" name="TextBox 3"/>
          <p:cNvSpPr txBox="1"/>
          <p:nvPr/>
        </p:nvSpPr>
        <p:spPr>
          <a:xfrm>
            <a:off x="896000" y="1131219"/>
            <a:ext cx="10400000" cy="350000"/>
          </a:xfrm>
          <a:prstGeom prst="rect">
            <a:avLst/>
          </a:prstGeom>
          <a:noFill/>
        </p:spPr>
        <p:txBody>
          <a:bodyPr wrap="square">
            <a:spAutoFit/>
          </a:bodyPr>
          <a:lstStyle/>
          <a:p>
            <a:pPr>
              <a:spcAft>
                <a:spcPts val="0"/>
              </a:spcAft>
            </a:pPr>
            <a:r>
              <a:rPr sz="1550" b="0" i="0">
                <a:solidFill>
                  <a:srgbClr val="202020"/>
                </a:solidFill>
                <a:latin typeface="Times New Roman"/>
              </a:rPr>
              <a:t>SAGE does not use a traditional static ML training dataset — it reasons over the student's own live planning data, collected from multiple sources.</a:t>
            </a:r>
          </a:p>
        </p:txBody>
      </p:sp>
      <p:graphicFrame>
        <p:nvGraphicFramePr>
          <p:cNvPr id="5" name="Table 4"/>
          <p:cNvGraphicFramePr>
            <a:graphicFrameLocks noGrp="1"/>
          </p:cNvGraphicFramePr>
          <p:nvPr/>
        </p:nvGraphicFramePr>
        <p:xfrm>
          <a:off x="900000" y="1800000"/>
          <a:ext cx="10400000" cy="432000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4400000">
                  <a:extLst>
                    <a:ext uri="{9D8B030D-6E8A-4147-A177-3AD203B41FA5}">
                      <a16:colId xmlns:a16="http://schemas.microsoft.com/office/drawing/2014/main" val="20001"/>
                    </a:ext>
                  </a:extLst>
                </a:gridCol>
                <a:gridCol w="3500000">
                  <a:extLst>
                    <a:ext uri="{9D8B030D-6E8A-4147-A177-3AD203B41FA5}">
                      <a16:colId xmlns:a16="http://schemas.microsoft.com/office/drawing/2014/main" val="20002"/>
                    </a:ext>
                  </a:extLst>
                </a:gridCol>
              </a:tblGrid>
              <a:tr h="1080000">
                <a:tc>
                  <a:txBody>
                    <a:bodyPr/>
                    <a:lstStyle/>
                    <a:p>
                      <a:r>
                        <a:rPr sz="1200" b="1" i="0">
                          <a:solidFill>
                            <a:srgbClr val="000000"/>
                          </a:solidFill>
                          <a:latin typeface="Times New Roman"/>
                        </a:rPr>
                        <a:t>Data source</a:t>
                      </a:r>
                    </a:p>
                  </a:txBody>
                  <a:tcPr marL="54864" marR="54864" marT="18288" marB="18288" anchor="ctr">
                    <a:solidFill>
                      <a:srgbClr val="FFFF00"/>
                    </a:solidFill>
                  </a:tcPr>
                </a:tc>
                <a:tc>
                  <a:txBody>
                    <a:bodyPr/>
                    <a:lstStyle/>
                    <a:p>
                      <a:r>
                        <a:rPr sz="1200" b="1" i="0">
                          <a:solidFill>
                            <a:srgbClr val="000000"/>
                          </a:solidFill>
                          <a:latin typeface="Times New Roman"/>
                        </a:rPr>
                        <a:t>What is captured</a:t>
                      </a:r>
                    </a:p>
                  </a:txBody>
                  <a:tcPr marL="54864" marR="54864" marT="18288" marB="18288" anchor="ctr">
                    <a:solidFill>
                      <a:srgbClr val="FFFF00"/>
                    </a:solidFill>
                  </a:tcPr>
                </a:tc>
                <a:tc>
                  <a:txBody>
                    <a:bodyPr/>
                    <a:lstStyle/>
                    <a:p>
                      <a:r>
                        <a:rPr sz="1200" b="1" i="0">
                          <a:solidFill>
                            <a:srgbClr val="000000"/>
                          </a:solidFill>
                          <a:latin typeface="Times New Roman"/>
                        </a:rPr>
                        <a:t>What SAGE uses it for</a:t>
                      </a:r>
                    </a:p>
                  </a:txBody>
                  <a:tcPr marL="54864" marR="54864" marT="18288" marB="18288" anchor="ctr">
                    <a:solidFill>
                      <a:srgbClr val="FFFF00"/>
                    </a:solidFill>
                  </a:tcPr>
                </a:tc>
                <a:extLst>
                  <a:ext uri="{0D108BD9-81ED-4DB2-BD59-A6C34878D82A}">
                    <a16:rowId xmlns:a16="http://schemas.microsoft.com/office/drawing/2014/main" val="10000"/>
                  </a:ext>
                </a:extLst>
              </a:tr>
              <a:tr h="1080000">
                <a:tc>
                  <a:txBody>
                    <a:bodyPr/>
                    <a:lstStyle/>
                    <a:p>
                      <a:r>
                        <a:rPr sz="1200" b="0" i="0">
                          <a:solidFill>
                            <a:srgbClr val="000000"/>
                          </a:solidFill>
                          <a:latin typeface="Times New Roman"/>
                        </a:rPr>
                        <a:t>Task Data</a:t>
                      </a:r>
                    </a:p>
                  </a:txBody>
                  <a:tcPr marL="54864" marR="54864" marT="18288" marB="18288" anchor="ctr">
                    <a:solidFill>
                      <a:srgbClr val="FFFFFF"/>
                    </a:solidFill>
                  </a:tcPr>
                </a:tc>
                <a:tc>
                  <a:txBody>
                    <a:bodyPr/>
                    <a:lstStyle/>
                    <a:p>
                      <a:r>
                        <a:rPr sz="1200" b="0" i="0">
                          <a:solidFill>
                            <a:srgbClr val="000000"/>
                          </a:solidFill>
                          <a:latin typeface="Times New Roman"/>
                        </a:rPr>
                        <a:t>Task title  ·  deadline  ·  effort estimate  ·  importance  ·  status  ·  snooze count</a:t>
                      </a:r>
                    </a:p>
                  </a:txBody>
                  <a:tcPr marL="54864" marR="54864" marT="18288" marB="18288" anchor="ctr">
                    <a:solidFill>
                      <a:srgbClr val="FFFFFF"/>
                    </a:solidFill>
                  </a:tcPr>
                </a:tc>
                <a:tc>
                  <a:txBody>
                    <a:bodyPr/>
                    <a:lstStyle/>
                    <a:p>
                      <a:r>
                        <a:rPr sz="1200" b="0" i="0">
                          <a:solidFill>
                            <a:srgbClr val="000000"/>
                          </a:solidFill>
                          <a:latin typeface="Times New Roman"/>
                        </a:rPr>
                        <a:t>Backbone of the daily plan — priority ranking, time-block sizing and snooze-pattern detection</a:t>
                      </a:r>
                    </a:p>
                  </a:txBody>
                  <a:tcPr marL="54864" marR="54864" marT="18288" marB="18288" anchor="ctr">
                    <a:solidFill>
                      <a:srgbClr val="FFFFFF"/>
                    </a:solidFill>
                  </a:tcPr>
                </a:tc>
                <a:extLst>
                  <a:ext uri="{0D108BD9-81ED-4DB2-BD59-A6C34878D82A}">
                    <a16:rowId xmlns:a16="http://schemas.microsoft.com/office/drawing/2014/main" val="10001"/>
                  </a:ext>
                </a:extLst>
              </a:tr>
              <a:tr h="1080000">
                <a:tc>
                  <a:txBody>
                    <a:bodyPr/>
                    <a:lstStyle/>
                    <a:p>
                      <a:r>
                        <a:rPr sz="1200" b="0" i="0">
                          <a:solidFill>
                            <a:srgbClr val="000000"/>
                          </a:solidFill>
                          <a:latin typeface="Times New Roman"/>
                        </a:rPr>
                        <a:t>Recurring Goals</a:t>
                      </a:r>
                    </a:p>
                  </a:txBody>
                  <a:tcPr marL="54864" marR="54864" marT="18288" marB="18288" anchor="ctr">
                    <a:solidFill>
                      <a:srgbClr val="FFFFFF"/>
                    </a:solidFill>
                  </a:tcPr>
                </a:tc>
                <a:tc>
                  <a:txBody>
                    <a:bodyPr/>
                    <a:lstStyle/>
                    <a:p>
                      <a:r>
                        <a:rPr sz="1200" b="0" i="0">
                          <a:solidFill>
                            <a:srgbClr val="000000"/>
                          </a:solidFill>
                          <a:latin typeface="Times New Roman"/>
                        </a:rPr>
                        <a:t>DSA practice  ·  online courses  ·  personal learning goals  ·  daily and weekly practice targets</a:t>
                      </a:r>
                    </a:p>
                  </a:txBody>
                  <a:tcPr marL="54864" marR="54864" marT="18288" marB="18288" anchor="ctr">
                    <a:solidFill>
                      <a:srgbClr val="FFFFFF"/>
                    </a:solidFill>
                  </a:tcPr>
                </a:tc>
                <a:tc>
                  <a:txBody>
                    <a:bodyPr/>
                    <a:lstStyle/>
                    <a:p>
                      <a:r>
                        <a:rPr sz="1200" b="0" i="0">
                          <a:solidFill>
                            <a:srgbClr val="000000"/>
                          </a:solidFill>
                          <a:latin typeface="Times New Roman"/>
                        </a:rPr>
                        <a:t>Auto-injected into every future plan without the student re-entering them</a:t>
                      </a:r>
                    </a:p>
                  </a:txBody>
                  <a:tcPr marL="54864" marR="54864" marT="18288" marB="18288" anchor="ctr">
                    <a:solidFill>
                      <a:srgbClr val="FFFFFF"/>
                    </a:solidFill>
                  </a:tcPr>
                </a:tc>
                <a:extLst>
                  <a:ext uri="{0D108BD9-81ED-4DB2-BD59-A6C34878D82A}">
                    <a16:rowId xmlns:a16="http://schemas.microsoft.com/office/drawing/2014/main" val="10002"/>
                  </a:ext>
                </a:extLst>
              </a:tr>
              <a:tr h="1080000">
                <a:tc>
                  <a:txBody>
                    <a:bodyPr/>
                    <a:lstStyle/>
                    <a:p>
                      <a:r>
                        <a:rPr sz="1200" b="0" i="0">
                          <a:solidFill>
                            <a:srgbClr val="000000"/>
                          </a:solidFill>
                          <a:latin typeface="Times New Roman"/>
                        </a:rPr>
                        <a:t>Google Calendar Data</a:t>
                      </a:r>
                    </a:p>
                  </a:txBody>
                  <a:tcPr marL="54864" marR="54864" marT="18288" marB="18288" anchor="ctr">
                    <a:solidFill>
                      <a:srgbClr val="FFFFFF"/>
                    </a:solidFill>
                  </a:tcPr>
                </a:tc>
                <a:tc>
                  <a:txBody>
                    <a:bodyPr/>
                    <a:lstStyle/>
                    <a:p>
                      <a:r>
                        <a:rPr sz="1200" b="0" i="0">
                          <a:solidFill>
                            <a:srgbClr val="000000"/>
                          </a:solidFill>
                          <a:latin typeface="Times New Roman"/>
                        </a:rPr>
                        <a:t>Classes  ·  labs  ·  exams  ·  other fixed commitments</a:t>
                      </a:r>
                    </a:p>
                  </a:txBody>
                  <a:tcPr marL="54864" marR="54864" marT="18288" marB="18288" anchor="ctr">
                    <a:solidFill>
                      <a:srgbClr val="FFFFFF"/>
                    </a:solidFill>
                  </a:tcPr>
                </a:tc>
                <a:tc>
                  <a:txBody>
                    <a:bodyPr/>
                    <a:lstStyle/>
                    <a:p>
                      <a:r>
                        <a:rPr sz="1200" b="0" i="0">
                          <a:solidFill>
                            <a:srgbClr val="000000"/>
                          </a:solidFill>
                          <a:latin typeface="Times New Roman"/>
                        </a:rPr>
                        <a:t>Computes the student's real available study time</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Dataset and Data Sources (2 of 2)</a:t>
            </a:r>
          </a:p>
        </p:txBody>
      </p:sp>
      <p:graphicFrame>
        <p:nvGraphicFramePr>
          <p:cNvPr id="4" name="Table 3"/>
          <p:cNvGraphicFramePr>
            <a:graphicFrameLocks noGrp="1"/>
          </p:cNvGraphicFramePr>
          <p:nvPr/>
        </p:nvGraphicFramePr>
        <p:xfrm>
          <a:off x="900000" y="1500000"/>
          <a:ext cx="10400000" cy="354000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4400000">
                  <a:extLst>
                    <a:ext uri="{9D8B030D-6E8A-4147-A177-3AD203B41FA5}">
                      <a16:colId xmlns:a16="http://schemas.microsoft.com/office/drawing/2014/main" val="20001"/>
                    </a:ext>
                  </a:extLst>
                </a:gridCol>
                <a:gridCol w="3500000">
                  <a:extLst>
                    <a:ext uri="{9D8B030D-6E8A-4147-A177-3AD203B41FA5}">
                      <a16:colId xmlns:a16="http://schemas.microsoft.com/office/drawing/2014/main" val="20002"/>
                    </a:ext>
                  </a:extLst>
                </a:gridCol>
              </a:tblGrid>
              <a:tr h="1180000">
                <a:tc>
                  <a:txBody>
                    <a:bodyPr/>
                    <a:lstStyle/>
                    <a:p>
                      <a:r>
                        <a:rPr sz="1200" b="1" i="0">
                          <a:solidFill>
                            <a:srgbClr val="000000"/>
                          </a:solidFill>
                          <a:latin typeface="Times New Roman"/>
                        </a:rPr>
                        <a:t>Data source</a:t>
                      </a:r>
                    </a:p>
                  </a:txBody>
                  <a:tcPr marL="54864" marR="54864" marT="18288" marB="18288" anchor="ctr">
                    <a:solidFill>
                      <a:srgbClr val="FFFF00"/>
                    </a:solidFill>
                  </a:tcPr>
                </a:tc>
                <a:tc>
                  <a:txBody>
                    <a:bodyPr/>
                    <a:lstStyle/>
                    <a:p>
                      <a:r>
                        <a:rPr sz="1200" b="1" i="0">
                          <a:solidFill>
                            <a:srgbClr val="000000"/>
                          </a:solidFill>
                          <a:latin typeface="Times New Roman"/>
                        </a:rPr>
                        <a:t>What is captured</a:t>
                      </a:r>
                    </a:p>
                  </a:txBody>
                  <a:tcPr marL="54864" marR="54864" marT="18288" marB="18288" anchor="ctr">
                    <a:solidFill>
                      <a:srgbClr val="FFFF00"/>
                    </a:solidFill>
                  </a:tcPr>
                </a:tc>
                <a:tc>
                  <a:txBody>
                    <a:bodyPr/>
                    <a:lstStyle/>
                    <a:p>
                      <a:r>
                        <a:rPr sz="1200" b="1" i="0">
                          <a:solidFill>
                            <a:srgbClr val="000000"/>
                          </a:solidFill>
                          <a:latin typeface="Times New Roman"/>
                        </a:rPr>
                        <a:t>What SAGE uses it for</a:t>
                      </a:r>
                    </a:p>
                  </a:txBody>
                  <a:tcPr marL="54864" marR="54864" marT="18288" marB="18288" anchor="ctr">
                    <a:solidFill>
                      <a:srgbClr val="FFFF00"/>
                    </a:solidFill>
                  </a:tcPr>
                </a:tc>
                <a:extLst>
                  <a:ext uri="{0D108BD9-81ED-4DB2-BD59-A6C34878D82A}">
                    <a16:rowId xmlns:a16="http://schemas.microsoft.com/office/drawing/2014/main" val="10000"/>
                  </a:ext>
                </a:extLst>
              </a:tr>
              <a:tr h="1180000">
                <a:tc>
                  <a:txBody>
                    <a:bodyPr/>
                    <a:lstStyle/>
                    <a:p>
                      <a:r>
                        <a:rPr sz="1200" b="0" i="0">
                          <a:solidFill>
                            <a:srgbClr val="000000"/>
                          </a:solidFill>
                          <a:latin typeface="Times New Roman"/>
                        </a:rPr>
                        <a:t>Codeforces Data</a:t>
                      </a:r>
                    </a:p>
                  </a:txBody>
                  <a:tcPr marL="54864" marR="54864" marT="18288" marB="18288" anchor="ctr">
                    <a:solidFill>
                      <a:srgbClr val="FFFFFF"/>
                    </a:solidFill>
                  </a:tcPr>
                </a:tc>
                <a:tc>
                  <a:txBody>
                    <a:bodyPr/>
                    <a:lstStyle/>
                    <a:p>
                      <a:r>
                        <a:rPr sz="1200" b="0" i="0">
                          <a:solidFill>
                            <a:srgbClr val="000000"/>
                          </a:solidFill>
                          <a:latin typeface="Times New Roman"/>
                        </a:rPr>
                        <a:t>Upcoming contests  ·  contest start time  ·  contest duration  ·  contest information</a:t>
                      </a:r>
                    </a:p>
                  </a:txBody>
                  <a:tcPr marL="54864" marR="54864" marT="18288" marB="18288" anchor="ctr">
                    <a:solidFill>
                      <a:srgbClr val="FFFFFF"/>
                    </a:solidFill>
                  </a:tcPr>
                </a:tc>
                <a:tc>
                  <a:txBody>
                    <a:bodyPr/>
                    <a:lstStyle/>
                    <a:p>
                      <a:r>
                        <a:rPr sz="1200" b="0" i="0">
                          <a:solidFill>
                            <a:srgbClr val="000000"/>
                          </a:solidFill>
                          <a:latin typeface="Times New Roman"/>
                        </a:rPr>
                        <a:t>Injected into the plan as fixed-time events that cannot be moved</a:t>
                      </a:r>
                    </a:p>
                  </a:txBody>
                  <a:tcPr marL="54864" marR="54864" marT="18288" marB="18288" anchor="ctr">
                    <a:solidFill>
                      <a:srgbClr val="FFFFFF"/>
                    </a:solidFill>
                  </a:tcPr>
                </a:tc>
                <a:extLst>
                  <a:ext uri="{0D108BD9-81ED-4DB2-BD59-A6C34878D82A}">
                    <a16:rowId xmlns:a16="http://schemas.microsoft.com/office/drawing/2014/main" val="10001"/>
                  </a:ext>
                </a:extLst>
              </a:tr>
              <a:tr h="1180000">
                <a:tc>
                  <a:txBody>
                    <a:bodyPr/>
                    <a:lstStyle/>
                    <a:p>
                      <a:r>
                        <a:rPr sz="1200" b="0" i="0">
                          <a:solidFill>
                            <a:srgbClr val="000000"/>
                          </a:solidFill>
                          <a:latin typeface="Times New Roman"/>
                        </a:rPr>
                        <a:t>Student Behaviour Data</a:t>
                      </a:r>
                    </a:p>
                  </a:txBody>
                  <a:tcPr marL="54864" marR="54864" marT="18288" marB="18288" anchor="ctr">
                    <a:solidFill>
                      <a:srgbClr val="FFFFFF"/>
                    </a:solidFill>
                  </a:tcPr>
                </a:tc>
                <a:tc>
                  <a:txBody>
                    <a:bodyPr/>
                    <a:lstStyle/>
                    <a:p>
                      <a:r>
                        <a:rPr sz="1200" b="0" i="0">
                          <a:solidFill>
                            <a:srgbClr val="000000"/>
                          </a:solidFill>
                          <a:latin typeface="Times New Roman"/>
                        </a:rPr>
                        <a:t>Completed tasks  ·  skipped tasks  ·  snoozed tasks  ·  repeated snoozes</a:t>
                      </a:r>
                    </a:p>
                  </a:txBody>
                  <a:tcPr marL="54864" marR="54864" marT="18288" marB="18288" anchor="ctr">
                    <a:solidFill>
                      <a:srgbClr val="FFFFFF"/>
                    </a:solidFill>
                  </a:tcPr>
                </a:tc>
                <a:tc>
                  <a:txBody>
                    <a:bodyPr/>
                    <a:lstStyle/>
                    <a:p>
                      <a:r>
                        <a:rPr sz="1200" b="0" i="0">
                          <a:solidFill>
                            <a:srgbClr val="000000"/>
                          </a:solidFill>
                          <a:latin typeface="Times New Roman"/>
                        </a:rPr>
                        <a:t>The system's only learning signal — drives adaptive rescheduling and the snooze-pattern trigger</a:t>
                      </a:r>
                    </a:p>
                  </a:txBody>
                  <a:tcPr marL="54864" marR="54864" marT="18288" marB="18288" anchor="ctr">
                    <a:solidFill>
                      <a:srgbClr val="FFFFFF"/>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900000" y="5350000"/>
            <a:ext cx="10400000" cy="700000"/>
          </a:xfrm>
          <a:prstGeom prst="rect">
            <a:avLst/>
          </a:prstGeom>
          <a:noFill/>
        </p:spPr>
        <p:txBody>
          <a:bodyPr wrap="square">
            <a:spAutoFit/>
          </a:bodyPr>
          <a:lstStyle/>
          <a:p>
            <a:pPr algn="ctr"/>
            <a:r>
              <a:rPr sz="1500" b="0" i="1">
                <a:solidFill>
                  <a:srgbClr val="202020"/>
                </a:solidFill>
                <a:latin typeface="Times New Roman"/>
              </a:rPr>
              <a:t>The PRD defines tasks, recurring goals, Google Calendar events and </a:t>
            </a:r>
            <a:r>
              <a:rPr sz="1500" b="0" i="1" err="1">
                <a:solidFill>
                  <a:srgbClr val="202020"/>
                </a:solidFill>
                <a:latin typeface="Times New Roman"/>
              </a:rPr>
              <a:t>Codeforces</a:t>
            </a:r>
            <a:r>
              <a:rPr sz="1500" b="0" i="1">
                <a:solidFill>
                  <a:srgbClr val="202020"/>
                </a:solidFill>
                <a:latin typeface="Times New Roman"/>
              </a:rPr>
              <a:t> contests as the core inputs to SAGE; </a:t>
            </a:r>
            <a:r>
              <a:rPr sz="1500" b="0" i="1" err="1">
                <a:solidFill>
                  <a:srgbClr val="202020"/>
                </a:solidFill>
                <a:latin typeface="Times New Roman"/>
              </a:rPr>
              <a:t>behaviour</a:t>
            </a:r>
            <a:r>
              <a:rPr sz="1500" b="0" i="1">
                <a:solidFill>
                  <a:srgbClr val="202020"/>
                </a:solidFill>
                <a:latin typeface="Times New Roman"/>
              </a:rPr>
              <a:t> data is what makes the plan adapt over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Methodology (1 of 2)</a:t>
            </a:r>
          </a:p>
        </p:txBody>
      </p:sp>
      <p:sp>
        <p:nvSpPr>
          <p:cNvPr id="4" name="TextBox 3"/>
          <p:cNvSpPr txBox="1"/>
          <p:nvPr/>
        </p:nvSpPr>
        <p:spPr>
          <a:xfrm>
            <a:off x="770540" y="2933735"/>
            <a:ext cx="5776697" cy="3139321"/>
          </a:xfrm>
          <a:prstGeom prst="rect">
            <a:avLst/>
          </a:prstGeom>
          <a:noFill/>
          <a:ln>
            <a:solidFill>
              <a:schemeClr val="tx1"/>
            </a:solidFill>
          </a:ln>
        </p:spPr>
        <p:txBody>
          <a:bodyPr wrap="square">
            <a:spAutoFit/>
          </a:bodyPr>
          <a:lstStyle/>
          <a:p>
            <a:pPr>
              <a:spcBef>
                <a:spcPts val="1100"/>
              </a:spcBef>
              <a:spcAft>
                <a:spcPts val="300"/>
              </a:spcAft>
            </a:pPr>
            <a:r>
              <a:rPr sz="1950" b="1" i="0" dirty="0">
                <a:solidFill>
                  <a:srgbClr val="202020"/>
                </a:solidFill>
                <a:latin typeface="Times New Roman"/>
              </a:rPr>
              <a:t>Step 2 — Data Collection</a:t>
            </a:r>
          </a:p>
          <a:p>
            <a:r>
              <a:rPr lang="en-IN" sz="1600" b="1" dirty="0"/>
              <a:t>User Data Collection</a:t>
            </a:r>
          </a:p>
          <a:p>
            <a:r>
              <a:rPr lang="en-IN" sz="1600" dirty="0"/>
              <a:t>SAGE first collects relevant student information such as:</a:t>
            </a:r>
          </a:p>
          <a:p>
            <a:pPr lvl="0"/>
            <a:r>
              <a:rPr lang="en-IN" sz="1600" dirty="0"/>
              <a:t>Tasks and assignments </a:t>
            </a:r>
          </a:p>
          <a:p>
            <a:pPr lvl="0"/>
            <a:r>
              <a:rPr lang="en-IN" sz="1600" dirty="0"/>
              <a:t>Goals </a:t>
            </a:r>
          </a:p>
          <a:p>
            <a:pPr lvl="0"/>
            <a:r>
              <a:rPr lang="en-IN" sz="1600" dirty="0"/>
              <a:t>Deadlines </a:t>
            </a:r>
          </a:p>
          <a:p>
            <a:pPr lvl="0"/>
            <a:r>
              <a:rPr lang="en-IN" sz="1600" dirty="0"/>
              <a:t>Academic schedule </a:t>
            </a:r>
          </a:p>
          <a:p>
            <a:pPr lvl="0"/>
            <a:r>
              <a:rPr lang="en-IN" sz="1600" dirty="0"/>
              <a:t>Exams </a:t>
            </a:r>
          </a:p>
          <a:p>
            <a:pPr lvl="0"/>
            <a:r>
              <a:rPr lang="en-IN" sz="1600" dirty="0"/>
              <a:t>Coding-contest preferences </a:t>
            </a:r>
          </a:p>
          <a:p>
            <a:pPr lvl="0"/>
            <a:r>
              <a:rPr lang="en-IN" sz="1600" dirty="0"/>
              <a:t>Daily study target </a:t>
            </a:r>
          </a:p>
          <a:p>
            <a:pPr lvl="0"/>
            <a:r>
              <a:rPr lang="en-IN" sz="1600" dirty="0"/>
              <a:t>Preferred focus time </a:t>
            </a:r>
          </a:p>
          <a:p>
            <a:pPr lvl="0"/>
            <a:r>
              <a:rPr lang="en-IN" sz="1600" dirty="0"/>
              <a:t>Notification preferences</a:t>
            </a:r>
          </a:p>
        </p:txBody>
      </p:sp>
      <p:sp>
        <p:nvSpPr>
          <p:cNvPr id="6" name="TextBox 5">
            <a:extLst>
              <a:ext uri="{FF2B5EF4-FFF2-40B4-BE49-F238E27FC236}">
                <a16:creationId xmlns:a16="http://schemas.microsoft.com/office/drawing/2014/main" id="{F5D49996-8BFD-230F-3677-B808DFBC1BEA}"/>
              </a:ext>
            </a:extLst>
          </p:cNvPr>
          <p:cNvSpPr txBox="1"/>
          <p:nvPr/>
        </p:nvSpPr>
        <p:spPr>
          <a:xfrm>
            <a:off x="770540" y="1357920"/>
            <a:ext cx="5776697" cy="1246495"/>
          </a:xfrm>
          <a:prstGeom prst="rect">
            <a:avLst/>
          </a:prstGeom>
          <a:noFill/>
          <a:ln>
            <a:solidFill>
              <a:schemeClr val="tx1"/>
            </a:solidFill>
          </a:ln>
        </p:spPr>
        <p:txBody>
          <a:bodyPr wrap="square">
            <a:spAutoFit/>
          </a:bodyPr>
          <a:lstStyle/>
          <a:p>
            <a:pPr>
              <a:spcBef>
                <a:spcPts val="200"/>
              </a:spcBef>
              <a:spcAft>
                <a:spcPts val="300"/>
              </a:spcAft>
            </a:pPr>
            <a:r>
              <a:rPr lang="en-US" sz="1950" b="1" i="0" dirty="0">
                <a:solidFill>
                  <a:srgbClr val="202020"/>
                </a:solidFill>
                <a:latin typeface="Times New Roman"/>
              </a:rPr>
              <a:t>Step 1 — Authentication</a:t>
            </a:r>
          </a:p>
          <a:p>
            <a:pPr>
              <a:spcAft>
                <a:spcPts val="300"/>
              </a:spcAft>
            </a:pPr>
            <a:r>
              <a:rPr lang="en-US" sz="1600" b="0" i="0" dirty="0">
                <a:solidFill>
                  <a:srgbClr val="202020"/>
                </a:solidFill>
                <a:latin typeface="Times New Roman"/>
              </a:rPr>
              <a:t>        –  Student logs in using Google OAuth2.</a:t>
            </a:r>
          </a:p>
          <a:p>
            <a:pPr>
              <a:spcAft>
                <a:spcPts val="300"/>
              </a:spcAft>
            </a:pPr>
            <a:r>
              <a:rPr lang="en-US" sz="1600" b="0" i="0" dirty="0">
                <a:solidFill>
                  <a:srgbClr val="202020"/>
                </a:solidFill>
                <a:latin typeface="Times New Roman"/>
              </a:rPr>
              <a:t>        –  Auth Service handles authentication and issues a JWT.</a:t>
            </a:r>
          </a:p>
          <a:p>
            <a:pPr>
              <a:spcAft>
                <a:spcPts val="300"/>
              </a:spcAft>
            </a:pPr>
            <a:r>
              <a:rPr lang="en-US" sz="1600" b="0" i="0" dirty="0">
                <a:solidFill>
                  <a:srgbClr val="202020"/>
                </a:solidFill>
                <a:latin typeface="Times New Roman"/>
              </a:rPr>
              <a:t>        –  API Gateway validates every request.</a:t>
            </a:r>
          </a:p>
        </p:txBody>
      </p:sp>
      <p:sp>
        <p:nvSpPr>
          <p:cNvPr id="8" name="TextBox 7">
            <a:extLst>
              <a:ext uri="{FF2B5EF4-FFF2-40B4-BE49-F238E27FC236}">
                <a16:creationId xmlns:a16="http://schemas.microsoft.com/office/drawing/2014/main" id="{43ECDEC2-C70E-B590-408F-453BF75674C0}"/>
              </a:ext>
            </a:extLst>
          </p:cNvPr>
          <p:cNvSpPr txBox="1"/>
          <p:nvPr/>
        </p:nvSpPr>
        <p:spPr>
          <a:xfrm>
            <a:off x="6911207" y="1292004"/>
            <a:ext cx="4794689" cy="1223412"/>
          </a:xfrm>
          <a:prstGeom prst="rect">
            <a:avLst/>
          </a:prstGeom>
          <a:noFill/>
          <a:ln>
            <a:solidFill>
              <a:schemeClr val="tx1"/>
            </a:solidFill>
          </a:ln>
        </p:spPr>
        <p:txBody>
          <a:bodyPr wrap="square">
            <a:spAutoFit/>
          </a:bodyPr>
          <a:lstStyle/>
          <a:p>
            <a:r>
              <a:rPr lang="en-US" b="1" dirty="0">
                <a:solidFill>
                  <a:srgbClr val="202020"/>
                </a:solidFill>
                <a:latin typeface="Times New Roman"/>
              </a:rPr>
              <a:t>Step  </a:t>
            </a:r>
            <a:r>
              <a:rPr lang="en-IN" b="1" dirty="0"/>
              <a:t>3. Data Integration</a:t>
            </a:r>
            <a:br>
              <a:rPr lang="en-IN" b="1" dirty="0"/>
            </a:br>
            <a:r>
              <a:rPr lang="en-IN" dirty="0"/>
              <a:t>Information from different sources is brought together into a unified student context.</a:t>
            </a:r>
          </a:p>
          <a:p>
            <a:endParaRPr lang="en-IN" b="1" dirty="0"/>
          </a:p>
        </p:txBody>
      </p:sp>
      <p:sp>
        <p:nvSpPr>
          <p:cNvPr id="10" name="TextBox 9">
            <a:extLst>
              <a:ext uri="{FF2B5EF4-FFF2-40B4-BE49-F238E27FC236}">
                <a16:creationId xmlns:a16="http://schemas.microsoft.com/office/drawing/2014/main" id="{F183727A-5336-9024-CD4E-C5C6B59904BB}"/>
              </a:ext>
            </a:extLst>
          </p:cNvPr>
          <p:cNvSpPr txBox="1"/>
          <p:nvPr/>
        </p:nvSpPr>
        <p:spPr>
          <a:xfrm>
            <a:off x="6911207" y="2934507"/>
            <a:ext cx="4794689" cy="2862322"/>
          </a:xfrm>
          <a:prstGeom prst="rect">
            <a:avLst/>
          </a:prstGeom>
          <a:noFill/>
          <a:ln>
            <a:solidFill>
              <a:schemeClr val="tx1"/>
            </a:solidFill>
          </a:ln>
        </p:spPr>
        <p:txBody>
          <a:bodyPr wrap="square">
            <a:spAutoFit/>
          </a:bodyPr>
          <a:lstStyle/>
          <a:p>
            <a:pPr>
              <a:buNone/>
            </a:pPr>
            <a:r>
              <a:rPr lang="en-US" b="1" dirty="0">
                <a:solidFill>
                  <a:srgbClr val="202020"/>
                </a:solidFill>
                <a:latin typeface="Times New Roman"/>
              </a:rPr>
              <a:t>Step 4 </a:t>
            </a:r>
            <a:r>
              <a:rPr lang="en-IN" b="1" dirty="0"/>
              <a:t>. Context Analysis</a:t>
            </a:r>
          </a:p>
          <a:p>
            <a:pPr>
              <a:buNone/>
            </a:pPr>
            <a:r>
              <a:rPr lang="en-IN" dirty="0"/>
              <a:t>SAGE </a:t>
            </a:r>
            <a:r>
              <a:rPr lang="en-IN" dirty="0" err="1"/>
              <a:t>analyzes</a:t>
            </a:r>
            <a:r>
              <a:rPr lang="en-IN" dirty="0"/>
              <a:t> the student's current situation using factors such as:</a:t>
            </a:r>
          </a:p>
          <a:p>
            <a:pPr marL="342900" lvl="0" indent="-342900">
              <a:buFont typeface="Arial" panose="020B0604020202020204" pitchFamily="34" charset="0"/>
              <a:buChar char="•"/>
            </a:pPr>
            <a:r>
              <a:rPr lang="en-IN" dirty="0"/>
              <a:t>Deadline proximity </a:t>
            </a:r>
          </a:p>
          <a:p>
            <a:pPr marL="342900" lvl="0" indent="-342900">
              <a:buFont typeface="Arial" panose="020B0604020202020204" pitchFamily="34" charset="0"/>
              <a:buChar char="•"/>
            </a:pPr>
            <a:r>
              <a:rPr lang="en-IN" dirty="0"/>
              <a:t>Task priority </a:t>
            </a:r>
          </a:p>
          <a:p>
            <a:pPr marL="342900" lvl="0" indent="-342900">
              <a:buFont typeface="Arial" panose="020B0604020202020204" pitchFamily="34" charset="0"/>
              <a:buChar char="•"/>
            </a:pPr>
            <a:r>
              <a:rPr lang="en-IN" dirty="0"/>
              <a:t>Estimated duration </a:t>
            </a:r>
          </a:p>
          <a:p>
            <a:pPr marL="342900" lvl="0" indent="-342900">
              <a:buFont typeface="Arial" panose="020B0604020202020204" pitchFamily="34" charset="0"/>
              <a:buChar char="•"/>
            </a:pPr>
            <a:r>
              <a:rPr lang="en-IN" dirty="0"/>
              <a:t>Available time </a:t>
            </a:r>
          </a:p>
          <a:p>
            <a:pPr marL="342900" lvl="0" indent="-342900">
              <a:buFont typeface="Arial" panose="020B0604020202020204" pitchFamily="34" charset="0"/>
              <a:buChar char="•"/>
            </a:pPr>
            <a:r>
              <a:rPr lang="en-IN" dirty="0"/>
              <a:t>Existing commitments </a:t>
            </a:r>
          </a:p>
          <a:p>
            <a:pPr marL="342900" lvl="0" indent="-342900">
              <a:buFont typeface="Arial" panose="020B0604020202020204" pitchFamily="34" charset="0"/>
              <a:buChar char="•"/>
            </a:pPr>
            <a:r>
              <a:rPr lang="en-IN" dirty="0"/>
              <a:t>Daily study target </a:t>
            </a:r>
          </a:p>
          <a:p>
            <a:pPr marL="342900" lvl="0" indent="-342900">
              <a:buFont typeface="Arial" panose="020B0604020202020204" pitchFamily="34" charset="0"/>
              <a:buChar char="•"/>
            </a:pPr>
            <a:r>
              <a:rPr lang="en-IN" dirty="0"/>
              <a:t>User preferences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Methodology (2 of 2)</a:t>
            </a:r>
          </a:p>
        </p:txBody>
      </p:sp>
      <p:sp>
        <p:nvSpPr>
          <p:cNvPr id="6" name="TextBox 5">
            <a:extLst>
              <a:ext uri="{FF2B5EF4-FFF2-40B4-BE49-F238E27FC236}">
                <a16:creationId xmlns:a16="http://schemas.microsoft.com/office/drawing/2014/main" id="{CAC4BB49-2F35-13F3-821C-A9A52B39DB02}"/>
              </a:ext>
            </a:extLst>
          </p:cNvPr>
          <p:cNvSpPr txBox="1"/>
          <p:nvPr/>
        </p:nvSpPr>
        <p:spPr>
          <a:xfrm>
            <a:off x="407933" y="1309752"/>
            <a:ext cx="6097314" cy="2031325"/>
          </a:xfrm>
          <a:prstGeom prst="rect">
            <a:avLst/>
          </a:prstGeom>
          <a:noFill/>
          <a:ln>
            <a:solidFill>
              <a:schemeClr val="tx1"/>
            </a:solidFill>
          </a:ln>
        </p:spPr>
        <p:txBody>
          <a:bodyPr wrap="square">
            <a:spAutoFit/>
          </a:bodyPr>
          <a:lstStyle/>
          <a:p>
            <a:pPr>
              <a:buNone/>
            </a:pPr>
            <a:r>
              <a:rPr lang="en-IN" b="1" dirty="0"/>
              <a:t> </a:t>
            </a:r>
            <a:r>
              <a:rPr lang="en-US" b="1" dirty="0">
                <a:solidFill>
                  <a:srgbClr val="202020"/>
                </a:solidFill>
                <a:latin typeface="Times New Roman"/>
              </a:rPr>
              <a:t>Step 5</a:t>
            </a:r>
            <a:r>
              <a:rPr lang="en-IN" b="1" dirty="0"/>
              <a:t>.Personalized Scheduling</a:t>
            </a:r>
          </a:p>
          <a:p>
            <a:pPr>
              <a:buNone/>
            </a:pPr>
            <a:r>
              <a:rPr lang="en-IN" dirty="0"/>
              <a:t>Based on the student's preferences and available time, SAGE creates or adjusts a suitable work schedule.</a:t>
            </a:r>
          </a:p>
          <a:p>
            <a:pPr>
              <a:buNone/>
            </a:pPr>
            <a:r>
              <a:rPr lang="en-IN" dirty="0"/>
              <a:t>For example:</a:t>
            </a:r>
          </a:p>
          <a:p>
            <a:pPr>
              <a:buNone/>
            </a:pPr>
            <a:r>
              <a:rPr lang="en-IN" dirty="0"/>
              <a:t>If a student has a 3-hour daily target and prefers evening study, SAGE allocates appropriate focus sessions during that period.</a:t>
            </a:r>
          </a:p>
        </p:txBody>
      </p:sp>
      <p:sp>
        <p:nvSpPr>
          <p:cNvPr id="8" name="TextBox 7">
            <a:extLst>
              <a:ext uri="{FF2B5EF4-FFF2-40B4-BE49-F238E27FC236}">
                <a16:creationId xmlns:a16="http://schemas.microsoft.com/office/drawing/2014/main" id="{D8795F99-7008-2D28-C657-EE4FADE9E3AE}"/>
              </a:ext>
            </a:extLst>
          </p:cNvPr>
          <p:cNvSpPr txBox="1"/>
          <p:nvPr/>
        </p:nvSpPr>
        <p:spPr>
          <a:xfrm>
            <a:off x="407933" y="3802677"/>
            <a:ext cx="6097314" cy="2585323"/>
          </a:xfrm>
          <a:prstGeom prst="rect">
            <a:avLst/>
          </a:prstGeom>
          <a:noFill/>
          <a:ln>
            <a:solidFill>
              <a:schemeClr val="tx1"/>
            </a:solidFill>
          </a:ln>
        </p:spPr>
        <p:txBody>
          <a:bodyPr wrap="square">
            <a:spAutoFit/>
          </a:bodyPr>
          <a:lstStyle/>
          <a:p>
            <a:pPr>
              <a:buNone/>
            </a:pPr>
            <a:r>
              <a:rPr lang="en-IN" b="1" dirty="0"/>
              <a:t>6. Action &amp; Reminders</a:t>
            </a:r>
          </a:p>
          <a:p>
            <a:pPr>
              <a:buNone/>
            </a:pPr>
            <a:r>
              <a:rPr lang="en-IN" dirty="0"/>
              <a:t>The student can then:</a:t>
            </a:r>
          </a:p>
          <a:p>
            <a:pPr marL="342900" lvl="0" indent="-342900">
              <a:buFont typeface="Arial" panose="020B0604020202020204" pitchFamily="34" charset="0"/>
              <a:buChar char="•"/>
            </a:pPr>
            <a:r>
              <a:rPr lang="en-IN" dirty="0"/>
              <a:t>Start a task </a:t>
            </a:r>
          </a:p>
          <a:p>
            <a:pPr marL="342900" lvl="0" indent="-342900">
              <a:buFont typeface="Arial" panose="020B0604020202020204" pitchFamily="34" charset="0"/>
              <a:buChar char="•"/>
            </a:pPr>
            <a:r>
              <a:rPr lang="en-IN" dirty="0"/>
              <a:t>Complete it </a:t>
            </a:r>
          </a:p>
          <a:p>
            <a:pPr marL="342900" lvl="0" indent="-342900">
              <a:buFont typeface="Arial" panose="020B0604020202020204" pitchFamily="34" charset="0"/>
              <a:buChar char="•"/>
            </a:pPr>
            <a:r>
              <a:rPr lang="en-IN" dirty="0"/>
              <a:t>Snooze it </a:t>
            </a:r>
          </a:p>
          <a:p>
            <a:pPr marL="342900" lvl="0" indent="-342900">
              <a:buFont typeface="Arial" panose="020B0604020202020204" pitchFamily="34" charset="0"/>
              <a:buChar char="•"/>
            </a:pPr>
            <a:r>
              <a:rPr lang="en-IN" dirty="0"/>
              <a:t>Reschedule it </a:t>
            </a:r>
          </a:p>
          <a:p>
            <a:pPr marL="342900" lvl="0" indent="-342900">
              <a:buFont typeface="Arial" panose="020B0604020202020204" pitchFamily="34" charset="0"/>
              <a:buChar char="•"/>
            </a:pPr>
            <a:r>
              <a:rPr lang="en-IN" dirty="0"/>
              <a:t>Change its priority </a:t>
            </a:r>
          </a:p>
          <a:p>
            <a:pPr>
              <a:buNone/>
            </a:pPr>
            <a:r>
              <a:rPr lang="en-IN" dirty="0"/>
              <a:t>SAGE can generate reminders for important tasks, exams, goals, and coding contests.</a:t>
            </a:r>
          </a:p>
        </p:txBody>
      </p:sp>
      <p:sp>
        <p:nvSpPr>
          <p:cNvPr id="10" name="TextBox 9">
            <a:extLst>
              <a:ext uri="{FF2B5EF4-FFF2-40B4-BE49-F238E27FC236}">
                <a16:creationId xmlns:a16="http://schemas.microsoft.com/office/drawing/2014/main" id="{54164853-70D1-0963-A57F-B3DAE1119C1D}"/>
              </a:ext>
            </a:extLst>
          </p:cNvPr>
          <p:cNvSpPr txBox="1"/>
          <p:nvPr/>
        </p:nvSpPr>
        <p:spPr>
          <a:xfrm>
            <a:off x="6895443" y="1242197"/>
            <a:ext cx="4602143" cy="2308324"/>
          </a:xfrm>
          <a:prstGeom prst="rect">
            <a:avLst/>
          </a:prstGeom>
          <a:noFill/>
          <a:ln>
            <a:solidFill>
              <a:schemeClr val="tx1"/>
            </a:solidFill>
          </a:ln>
        </p:spPr>
        <p:txBody>
          <a:bodyPr wrap="square">
            <a:spAutoFit/>
          </a:bodyPr>
          <a:lstStyle/>
          <a:p>
            <a:pPr>
              <a:buNone/>
            </a:pPr>
            <a:r>
              <a:rPr lang="en-IN" b="1" dirty="0"/>
              <a:t>7. </a:t>
            </a:r>
            <a:r>
              <a:rPr lang="en-IN" b="1" dirty="0" err="1"/>
              <a:t>Behavioral</a:t>
            </a:r>
            <a:r>
              <a:rPr lang="en-IN" b="1" dirty="0"/>
              <a:t> Feedback</a:t>
            </a:r>
          </a:p>
          <a:p>
            <a:pPr>
              <a:buNone/>
            </a:pPr>
            <a:r>
              <a:rPr lang="en-IN" dirty="0"/>
              <a:t>SAGE records interactions such as:</a:t>
            </a:r>
          </a:p>
          <a:p>
            <a:pPr marL="342900" lvl="0" indent="-342900">
              <a:buFont typeface="Arial" panose="020B0604020202020204" pitchFamily="34" charset="0"/>
              <a:buChar char="•"/>
            </a:pPr>
            <a:r>
              <a:rPr lang="en-IN" dirty="0"/>
              <a:t>Task completed </a:t>
            </a:r>
          </a:p>
          <a:p>
            <a:pPr marL="342900" lvl="0" indent="-342900">
              <a:buFont typeface="Arial" panose="020B0604020202020204" pitchFamily="34" charset="0"/>
              <a:buChar char="•"/>
            </a:pPr>
            <a:r>
              <a:rPr lang="en-IN" dirty="0"/>
              <a:t>Task postponed </a:t>
            </a:r>
          </a:p>
          <a:p>
            <a:pPr marL="342900" lvl="0" indent="-342900">
              <a:buFont typeface="Arial" panose="020B0604020202020204" pitchFamily="34" charset="0"/>
              <a:buChar char="•"/>
            </a:pPr>
            <a:r>
              <a:rPr lang="en-IN" dirty="0"/>
              <a:t>Task snoozed </a:t>
            </a:r>
          </a:p>
          <a:p>
            <a:pPr marL="342900" lvl="0" indent="-342900">
              <a:buFont typeface="Arial" panose="020B0604020202020204" pitchFamily="34" charset="0"/>
              <a:buChar char="•"/>
            </a:pPr>
            <a:r>
              <a:rPr lang="en-IN" dirty="0"/>
              <a:t>Task rescheduled </a:t>
            </a:r>
          </a:p>
          <a:p>
            <a:pPr marL="342900" lvl="0" indent="-342900">
              <a:buFont typeface="Arial" panose="020B0604020202020204" pitchFamily="34" charset="0"/>
              <a:buChar char="•"/>
            </a:pPr>
            <a:r>
              <a:rPr lang="en-IN" dirty="0"/>
              <a:t>Goal completed </a:t>
            </a:r>
          </a:p>
          <a:p>
            <a:pPr>
              <a:buNone/>
            </a:pPr>
            <a:r>
              <a:rPr lang="en-IN" dirty="0"/>
              <a:t>This creates a feedback loop.</a:t>
            </a:r>
          </a:p>
        </p:txBody>
      </p:sp>
      <p:sp>
        <p:nvSpPr>
          <p:cNvPr id="12" name="TextBox 11">
            <a:extLst>
              <a:ext uri="{FF2B5EF4-FFF2-40B4-BE49-F238E27FC236}">
                <a16:creationId xmlns:a16="http://schemas.microsoft.com/office/drawing/2014/main" id="{D39E3477-E9E6-28DF-AEE4-580D259E019A}"/>
              </a:ext>
            </a:extLst>
          </p:cNvPr>
          <p:cNvSpPr txBox="1"/>
          <p:nvPr/>
        </p:nvSpPr>
        <p:spPr>
          <a:xfrm>
            <a:off x="7019887" y="3988473"/>
            <a:ext cx="4353254" cy="1200329"/>
          </a:xfrm>
          <a:prstGeom prst="rect">
            <a:avLst/>
          </a:prstGeom>
          <a:noFill/>
          <a:ln>
            <a:solidFill>
              <a:schemeClr val="tx1"/>
            </a:solidFill>
          </a:ln>
        </p:spPr>
        <p:txBody>
          <a:bodyPr wrap="square">
            <a:spAutoFit/>
          </a:bodyPr>
          <a:lstStyle/>
          <a:p>
            <a:pPr>
              <a:buNone/>
            </a:pPr>
            <a:r>
              <a:rPr lang="en-IN" b="1" dirty="0"/>
              <a:t>8. Continuous Adaptation</a:t>
            </a:r>
          </a:p>
          <a:p>
            <a:pPr>
              <a:buNone/>
            </a:pPr>
            <a:r>
              <a:rPr lang="en-IN" dirty="0"/>
              <a:t>When circumstances change, SAGE updates the plan instead of relying on a completely static timetable.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Core Product Loop</a:t>
            </a:r>
          </a:p>
        </p:txBody>
      </p:sp>
      <p:pic>
        <p:nvPicPr>
          <p:cNvPr id="4" name="Picture 3" descr="fig_loop.png"/>
          <p:cNvPicPr>
            <a:picLocks noChangeAspect="1"/>
          </p:cNvPicPr>
          <p:nvPr/>
        </p:nvPicPr>
        <p:blipFill>
          <a:blip r:embed="rId3"/>
          <a:stretch>
            <a:fillRect/>
          </a:stretch>
        </p:blipFill>
        <p:spPr>
          <a:xfrm>
            <a:off x="2348367" y="1240000"/>
            <a:ext cx="7503265" cy="4960000"/>
          </a:xfrm>
          <a:prstGeom prst="rect">
            <a:avLst/>
          </a:prstGeom>
        </p:spPr>
      </p:pic>
      <p:sp>
        <p:nvSpPr>
          <p:cNvPr id="5" name="TextBox 4"/>
          <p:cNvSpPr txBox="1"/>
          <p:nvPr/>
        </p:nvSpPr>
        <p:spPr>
          <a:xfrm>
            <a:off x="900000" y="6280000"/>
            <a:ext cx="10400000" cy="300000"/>
          </a:xfrm>
          <a:prstGeom prst="rect">
            <a:avLst/>
          </a:prstGeom>
          <a:noFill/>
        </p:spPr>
        <p:txBody>
          <a:bodyPr wrap="square">
            <a:spAutoFit/>
          </a:bodyPr>
          <a:lstStyle/>
          <a:p>
            <a:pPr algn="ctr"/>
            <a:r>
              <a:rPr sz="1400" b="0" i="1">
                <a:solidFill>
                  <a:srgbClr val="202020"/>
                </a:solidFill>
                <a:latin typeface="Times New Roman"/>
              </a:rPr>
              <a:t>Figure 2 — The adaptive loop is the project's central product and technical claim; every other feature exists to feed or surface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System Architecture — Microservices</a:t>
            </a:r>
          </a:p>
        </p:txBody>
      </p:sp>
      <p:graphicFrame>
        <p:nvGraphicFramePr>
          <p:cNvPr id="4" name="Table 3"/>
          <p:cNvGraphicFramePr>
            <a:graphicFrameLocks noGrp="1"/>
          </p:cNvGraphicFramePr>
          <p:nvPr/>
        </p:nvGraphicFramePr>
        <p:xfrm>
          <a:off x="900000" y="1420000"/>
          <a:ext cx="10400000" cy="3720000"/>
        </p:xfrm>
        <a:graphic>
          <a:graphicData uri="http://schemas.openxmlformats.org/drawingml/2006/table">
            <a:tbl>
              <a:tblPr firstRow="1" bandRow="1">
                <a:tableStyleId>{5C22544A-7EE6-4342-B048-85BDC9FD1C3A}</a:tableStyleId>
              </a:tblPr>
              <a:tblGrid>
                <a:gridCol w="2700000">
                  <a:extLst>
                    <a:ext uri="{9D8B030D-6E8A-4147-A177-3AD203B41FA5}">
                      <a16:colId xmlns:a16="http://schemas.microsoft.com/office/drawing/2014/main" val="20000"/>
                    </a:ext>
                  </a:extLst>
                </a:gridCol>
                <a:gridCol w="5000000">
                  <a:extLst>
                    <a:ext uri="{9D8B030D-6E8A-4147-A177-3AD203B41FA5}">
                      <a16:colId xmlns:a16="http://schemas.microsoft.com/office/drawing/2014/main" val="20001"/>
                    </a:ext>
                  </a:extLst>
                </a:gridCol>
                <a:gridCol w="1700000">
                  <a:extLst>
                    <a:ext uri="{9D8B030D-6E8A-4147-A177-3AD203B41FA5}">
                      <a16:colId xmlns:a16="http://schemas.microsoft.com/office/drawing/2014/main" val="20002"/>
                    </a:ext>
                  </a:extLst>
                </a:gridCol>
                <a:gridCol w="1000000">
                  <a:extLst>
                    <a:ext uri="{9D8B030D-6E8A-4147-A177-3AD203B41FA5}">
                      <a16:colId xmlns:a16="http://schemas.microsoft.com/office/drawing/2014/main" val="20003"/>
                    </a:ext>
                  </a:extLst>
                </a:gridCol>
              </a:tblGrid>
              <a:tr h="620000">
                <a:tc>
                  <a:txBody>
                    <a:bodyPr/>
                    <a:lstStyle/>
                    <a:p>
                      <a:r>
                        <a:rPr sz="1150" b="1" i="0">
                          <a:solidFill>
                            <a:srgbClr val="000000"/>
                          </a:solidFill>
                          <a:latin typeface="Times New Roman"/>
                        </a:rPr>
                        <a:t>Service</a:t>
                      </a:r>
                    </a:p>
                  </a:txBody>
                  <a:tcPr marL="54864" marR="54864" marT="18288" marB="18288" anchor="ctr">
                    <a:solidFill>
                      <a:srgbClr val="FFFF00"/>
                    </a:solidFill>
                  </a:tcPr>
                </a:tc>
                <a:tc>
                  <a:txBody>
                    <a:bodyPr/>
                    <a:lstStyle/>
                    <a:p>
                      <a:r>
                        <a:rPr sz="1150" b="1" i="0">
                          <a:solidFill>
                            <a:srgbClr val="000000"/>
                          </a:solidFill>
                          <a:latin typeface="Times New Roman"/>
                        </a:rPr>
                        <a:t>Responsibility</a:t>
                      </a:r>
                    </a:p>
                  </a:txBody>
                  <a:tcPr marL="54864" marR="54864" marT="18288" marB="18288" anchor="ctr">
                    <a:solidFill>
                      <a:srgbClr val="FFFF00"/>
                    </a:solidFill>
                  </a:tcPr>
                </a:tc>
                <a:tc>
                  <a:txBody>
                    <a:bodyPr/>
                    <a:lstStyle/>
                    <a:p>
                      <a:pPr algn="ctr"/>
                      <a:r>
                        <a:rPr sz="1150" b="1" i="0">
                          <a:solidFill>
                            <a:srgbClr val="000000"/>
                          </a:solidFill>
                          <a:latin typeface="Times New Roman"/>
                        </a:rPr>
                        <a:t>Database</a:t>
                      </a:r>
                    </a:p>
                  </a:txBody>
                  <a:tcPr marL="54864" marR="54864" marT="18288" marB="18288" anchor="ctr">
                    <a:solidFill>
                      <a:srgbClr val="FFFF00"/>
                    </a:solidFill>
                  </a:tcPr>
                </a:tc>
                <a:tc>
                  <a:txBody>
                    <a:bodyPr/>
                    <a:lstStyle/>
                    <a:p>
                      <a:pPr algn="ctr"/>
                      <a:r>
                        <a:rPr sz="1150" b="1" i="0">
                          <a:solidFill>
                            <a:srgbClr val="000000"/>
                          </a:solidFill>
                          <a:latin typeface="Times New Roman"/>
                        </a:rPr>
                        <a:t>Status</a:t>
                      </a:r>
                    </a:p>
                  </a:txBody>
                  <a:tcPr marL="54864" marR="54864" marT="18288" marB="18288" anchor="ctr">
                    <a:solidFill>
                      <a:srgbClr val="FFFF00"/>
                    </a:solidFill>
                  </a:tcPr>
                </a:tc>
                <a:extLst>
                  <a:ext uri="{0D108BD9-81ED-4DB2-BD59-A6C34878D82A}">
                    <a16:rowId xmlns:a16="http://schemas.microsoft.com/office/drawing/2014/main" val="10000"/>
                  </a:ext>
                </a:extLst>
              </a:tr>
              <a:tr h="620000">
                <a:tc>
                  <a:txBody>
                    <a:bodyPr/>
                    <a:lstStyle/>
                    <a:p>
                      <a:r>
                        <a:rPr sz="1100" b="0" i="0">
                          <a:solidFill>
                            <a:srgbClr val="000000"/>
                          </a:solidFill>
                          <a:latin typeface="Times New Roman"/>
                        </a:rPr>
                        <a:t>Auth Service</a:t>
                      </a:r>
                    </a:p>
                  </a:txBody>
                  <a:tcPr marL="54864" marR="54864" marT="18288" marB="18288" anchor="ctr">
                    <a:solidFill>
                      <a:srgbClr val="FFFFFF"/>
                    </a:solidFill>
                  </a:tcPr>
                </a:tc>
                <a:tc>
                  <a:txBody>
                    <a:bodyPr/>
                    <a:lstStyle/>
                    <a:p>
                      <a:r>
                        <a:rPr sz="1100" b="0" i="0">
                          <a:solidFill>
                            <a:srgbClr val="000000"/>
                          </a:solidFill>
                          <a:latin typeface="Times New Roman"/>
                        </a:rPr>
                        <a:t>Google OAuth2, JWT issuance, role-based authorisation</a:t>
                      </a:r>
                    </a:p>
                  </a:txBody>
                  <a:tcPr marL="54864" marR="54864" marT="18288" marB="18288" anchor="ctr">
                    <a:solidFill>
                      <a:srgbClr val="FFFFFF"/>
                    </a:solidFill>
                  </a:tcPr>
                </a:tc>
                <a:tc>
                  <a:txBody>
                    <a:bodyPr/>
                    <a:lstStyle/>
                    <a:p>
                      <a:pPr algn="ctr"/>
                      <a:r>
                        <a:rPr sz="1100" b="0" i="0">
                          <a:solidFill>
                            <a:srgbClr val="000000"/>
                          </a:solidFill>
                          <a:latin typeface="Times New Roman"/>
                        </a:rPr>
                        <a:t>auth_db</a:t>
                      </a:r>
                    </a:p>
                  </a:txBody>
                  <a:tcPr marL="54864" marR="54864" marT="18288" marB="18288" anchor="ctr">
                    <a:solidFill>
                      <a:srgbClr val="FFFFFF"/>
                    </a:solidFill>
                  </a:tcPr>
                </a:tc>
                <a:tc>
                  <a:txBody>
                    <a:bodyPr/>
                    <a:lstStyle/>
                    <a:p>
                      <a:pPr algn="ctr"/>
                      <a:r>
                        <a:rPr sz="1100" b="0" i="0">
                          <a:solidFill>
                            <a:srgbClr val="000000"/>
                          </a:solidFill>
                          <a:latin typeface="Times New Roman"/>
                        </a:rPr>
                        <a:t>Already built</a:t>
                      </a:r>
                    </a:p>
                  </a:txBody>
                  <a:tcPr marL="54864" marR="54864" marT="18288" marB="18288" anchor="ctr">
                    <a:solidFill>
                      <a:srgbClr val="FFFFFF"/>
                    </a:solidFill>
                  </a:tcPr>
                </a:tc>
                <a:extLst>
                  <a:ext uri="{0D108BD9-81ED-4DB2-BD59-A6C34878D82A}">
                    <a16:rowId xmlns:a16="http://schemas.microsoft.com/office/drawing/2014/main" val="10001"/>
                  </a:ext>
                </a:extLst>
              </a:tr>
              <a:tr h="620000">
                <a:tc>
                  <a:txBody>
                    <a:bodyPr/>
                    <a:lstStyle/>
                    <a:p>
                      <a:r>
                        <a:rPr sz="1100" b="0" i="0">
                          <a:solidFill>
                            <a:srgbClr val="000000"/>
                          </a:solidFill>
                          <a:latin typeface="Times New Roman"/>
                        </a:rPr>
                        <a:t>Task Service</a:t>
                      </a:r>
                    </a:p>
                  </a:txBody>
                  <a:tcPr marL="54864" marR="54864" marT="18288" marB="18288" anchor="ctr">
                    <a:solidFill>
                      <a:srgbClr val="FFFFFF"/>
                    </a:solidFill>
                  </a:tcPr>
                </a:tc>
                <a:tc>
                  <a:txBody>
                    <a:bodyPr/>
                    <a:lstStyle/>
                    <a:p>
                      <a:r>
                        <a:rPr sz="1100" b="0" i="0">
                          <a:solidFill>
                            <a:srgbClr val="000000"/>
                          </a:solidFill>
                          <a:latin typeface="Times New Roman"/>
                        </a:rPr>
                        <a:t>Task CRUD, recurring goals, status, snooze count</a:t>
                      </a:r>
                    </a:p>
                  </a:txBody>
                  <a:tcPr marL="54864" marR="54864" marT="18288" marB="18288" anchor="ctr">
                    <a:solidFill>
                      <a:srgbClr val="FFFFFF"/>
                    </a:solidFill>
                  </a:tcPr>
                </a:tc>
                <a:tc>
                  <a:txBody>
                    <a:bodyPr/>
                    <a:lstStyle/>
                    <a:p>
                      <a:pPr algn="ctr"/>
                      <a:r>
                        <a:rPr sz="1100" b="0" i="0">
                          <a:solidFill>
                            <a:srgbClr val="000000"/>
                          </a:solidFill>
                          <a:latin typeface="Times New Roman"/>
                        </a:rPr>
                        <a:t>task_db</a:t>
                      </a:r>
                    </a:p>
                  </a:txBody>
                  <a:tcPr marL="54864" marR="54864" marT="18288" marB="18288" anchor="ctr">
                    <a:solidFill>
                      <a:srgbClr val="FFFFFF"/>
                    </a:solidFill>
                  </a:tcPr>
                </a:tc>
                <a:tc>
                  <a:txBody>
                    <a:bodyPr/>
                    <a:lstStyle/>
                    <a:p>
                      <a:pPr algn="ctr"/>
                      <a:r>
                        <a:rPr sz="1100" b="0" i="0">
                          <a:solidFill>
                            <a:srgbClr val="000000"/>
                          </a:solidFill>
                          <a:latin typeface="Times New Roman"/>
                        </a:rPr>
                        <a:t>To build</a:t>
                      </a:r>
                    </a:p>
                  </a:txBody>
                  <a:tcPr marL="54864" marR="54864" marT="18288" marB="18288" anchor="ctr">
                    <a:solidFill>
                      <a:srgbClr val="FFFFFF"/>
                    </a:solidFill>
                  </a:tcPr>
                </a:tc>
                <a:extLst>
                  <a:ext uri="{0D108BD9-81ED-4DB2-BD59-A6C34878D82A}">
                    <a16:rowId xmlns:a16="http://schemas.microsoft.com/office/drawing/2014/main" val="10002"/>
                  </a:ext>
                </a:extLst>
              </a:tr>
              <a:tr h="620000">
                <a:tc>
                  <a:txBody>
                    <a:bodyPr/>
                    <a:lstStyle/>
                    <a:p>
                      <a:r>
                        <a:rPr sz="1100" b="0" i="0">
                          <a:solidFill>
                            <a:srgbClr val="000000"/>
                          </a:solidFill>
                          <a:latin typeface="Times New Roman"/>
                        </a:rPr>
                        <a:t>Integration Service</a:t>
                      </a:r>
                    </a:p>
                  </a:txBody>
                  <a:tcPr marL="54864" marR="54864" marT="18288" marB="18288" anchor="ctr">
                    <a:solidFill>
                      <a:srgbClr val="FFFFFF"/>
                    </a:solidFill>
                  </a:tcPr>
                </a:tc>
                <a:tc>
                  <a:txBody>
                    <a:bodyPr/>
                    <a:lstStyle/>
                    <a:p>
                      <a:r>
                        <a:rPr sz="1100" b="0" i="0">
                          <a:solidFill>
                            <a:srgbClr val="000000"/>
                          </a:solidFill>
                          <a:latin typeface="Times New Roman"/>
                        </a:rPr>
                        <a:t>Pluggable Contest / Profile Provider architecture (Codeforces live, others stubbed) plus Google Calendar sync</a:t>
                      </a:r>
                    </a:p>
                  </a:txBody>
                  <a:tcPr marL="54864" marR="54864" marT="18288" marB="18288" anchor="ctr">
                    <a:solidFill>
                      <a:srgbClr val="FFFFFF"/>
                    </a:solidFill>
                  </a:tcPr>
                </a:tc>
                <a:tc>
                  <a:txBody>
                    <a:bodyPr/>
                    <a:lstStyle/>
                    <a:p>
                      <a:pPr algn="ctr"/>
                      <a:r>
                        <a:rPr sz="1100" b="0" i="0">
                          <a:solidFill>
                            <a:srgbClr val="000000"/>
                          </a:solidFill>
                          <a:latin typeface="Times New Roman"/>
                        </a:rPr>
                        <a:t>integration_db (cache only)</a:t>
                      </a:r>
                    </a:p>
                  </a:txBody>
                  <a:tcPr marL="54864" marR="54864" marT="18288" marB="18288" anchor="ctr">
                    <a:solidFill>
                      <a:srgbClr val="FFFFFF"/>
                    </a:solidFill>
                  </a:tcPr>
                </a:tc>
                <a:tc>
                  <a:txBody>
                    <a:bodyPr/>
                    <a:lstStyle/>
                    <a:p>
                      <a:pPr algn="ctr"/>
                      <a:r>
                        <a:rPr sz="1100" b="0" i="0">
                          <a:solidFill>
                            <a:srgbClr val="000000"/>
                          </a:solidFill>
                          <a:latin typeface="Times New Roman"/>
                        </a:rPr>
                        <a:t>To build</a:t>
                      </a:r>
                    </a:p>
                  </a:txBody>
                  <a:tcPr marL="54864" marR="54864" marT="18288" marB="18288" anchor="ctr">
                    <a:solidFill>
                      <a:srgbClr val="FFFFFF"/>
                    </a:solidFill>
                  </a:tcPr>
                </a:tc>
                <a:extLst>
                  <a:ext uri="{0D108BD9-81ED-4DB2-BD59-A6C34878D82A}">
                    <a16:rowId xmlns:a16="http://schemas.microsoft.com/office/drawing/2014/main" val="10003"/>
                  </a:ext>
                </a:extLst>
              </a:tr>
              <a:tr h="620000">
                <a:tc>
                  <a:txBody>
                    <a:bodyPr/>
                    <a:lstStyle/>
                    <a:p>
                      <a:r>
                        <a:rPr sz="1100" b="0" i="0">
                          <a:solidFill>
                            <a:srgbClr val="000000"/>
                          </a:solidFill>
                          <a:latin typeface="Times New Roman"/>
                        </a:rPr>
                        <a:t>Planning Service (SAGE Brain)</a:t>
                      </a:r>
                    </a:p>
                  </a:txBody>
                  <a:tcPr marL="54864" marR="54864" marT="18288" marB="18288" anchor="ctr">
                    <a:solidFill>
                      <a:srgbClr val="FFFFFF"/>
                    </a:solidFill>
                  </a:tcPr>
                </a:tc>
                <a:tc>
                  <a:txBody>
                    <a:bodyPr/>
                    <a:lstStyle/>
                    <a:p>
                      <a:r>
                        <a:rPr sz="1100" b="0" i="0">
                          <a:solidFill>
                            <a:srgbClr val="000000"/>
                          </a:solidFill>
                          <a:latin typeface="Times New Roman"/>
                        </a:rPr>
                        <a:t>Today's schedule, overload detection, adaptive rescheduling, LLM Q&amp;A</a:t>
                      </a:r>
                    </a:p>
                  </a:txBody>
                  <a:tcPr marL="54864" marR="54864" marT="18288" marB="18288" anchor="ctr">
                    <a:solidFill>
                      <a:srgbClr val="FFFFFF"/>
                    </a:solidFill>
                  </a:tcPr>
                </a:tc>
                <a:tc>
                  <a:txBody>
                    <a:bodyPr/>
                    <a:lstStyle/>
                    <a:p>
                      <a:pPr algn="ctr"/>
                      <a:r>
                        <a:rPr sz="1100" b="0" i="0">
                          <a:solidFill>
                            <a:srgbClr val="000000"/>
                          </a:solidFill>
                          <a:latin typeface="Times New Roman"/>
                        </a:rPr>
                        <a:t>planning_db</a:t>
                      </a:r>
                    </a:p>
                  </a:txBody>
                  <a:tcPr marL="54864" marR="54864" marT="18288" marB="18288" anchor="ctr">
                    <a:solidFill>
                      <a:srgbClr val="FFFFFF"/>
                    </a:solidFill>
                  </a:tcPr>
                </a:tc>
                <a:tc>
                  <a:txBody>
                    <a:bodyPr/>
                    <a:lstStyle/>
                    <a:p>
                      <a:pPr algn="ctr"/>
                      <a:r>
                        <a:rPr sz="1100" b="0" i="0">
                          <a:solidFill>
                            <a:srgbClr val="000000"/>
                          </a:solidFill>
                          <a:latin typeface="Times New Roman"/>
                        </a:rPr>
                        <a:t>To build</a:t>
                      </a:r>
                    </a:p>
                  </a:txBody>
                  <a:tcPr marL="54864" marR="54864" marT="18288" marB="18288" anchor="ctr">
                    <a:solidFill>
                      <a:srgbClr val="FFFFFF"/>
                    </a:solidFill>
                  </a:tcPr>
                </a:tc>
                <a:extLst>
                  <a:ext uri="{0D108BD9-81ED-4DB2-BD59-A6C34878D82A}">
                    <a16:rowId xmlns:a16="http://schemas.microsoft.com/office/drawing/2014/main" val="10004"/>
                  </a:ext>
                </a:extLst>
              </a:tr>
              <a:tr h="620000">
                <a:tc>
                  <a:txBody>
                    <a:bodyPr/>
                    <a:lstStyle/>
                    <a:p>
                      <a:r>
                        <a:rPr sz="1100" b="0" i="0">
                          <a:solidFill>
                            <a:srgbClr val="000000"/>
                          </a:solidFill>
                          <a:latin typeface="Times New Roman"/>
                        </a:rPr>
                        <a:t>Notification Service</a:t>
                      </a:r>
                    </a:p>
                  </a:txBody>
                  <a:tcPr marL="54864" marR="54864" marT="18288" marB="18288" anchor="ctr">
                    <a:solidFill>
                      <a:srgbClr val="FFFFFF"/>
                    </a:solidFill>
                  </a:tcPr>
                </a:tc>
                <a:tc>
                  <a:txBody>
                    <a:bodyPr/>
                    <a:lstStyle/>
                    <a:p>
                      <a:r>
                        <a:rPr sz="1100" b="0" i="0">
                          <a:solidFill>
                            <a:srgbClr val="000000"/>
                          </a:solidFill>
                          <a:latin typeface="Times New Roman"/>
                        </a:rPr>
                        <a:t>Event-triggered contest, task and goal reminders; snooze nudges</a:t>
                      </a:r>
                    </a:p>
                  </a:txBody>
                  <a:tcPr marL="54864" marR="54864" marT="18288" marB="18288" anchor="ctr">
                    <a:solidFill>
                      <a:srgbClr val="FFFFFF"/>
                    </a:solidFill>
                  </a:tcPr>
                </a:tc>
                <a:tc>
                  <a:txBody>
                    <a:bodyPr/>
                    <a:lstStyle/>
                    <a:p>
                      <a:pPr algn="ctr"/>
                      <a:r>
                        <a:rPr sz="1100" b="0" i="0">
                          <a:solidFill>
                            <a:srgbClr val="000000"/>
                          </a:solidFill>
                          <a:latin typeface="Times New Roman"/>
                        </a:rPr>
                        <a:t>notification_db (or stateless)</a:t>
                      </a:r>
                    </a:p>
                  </a:txBody>
                  <a:tcPr marL="54864" marR="54864" marT="18288" marB="18288" anchor="ctr">
                    <a:solidFill>
                      <a:srgbClr val="FFFFFF"/>
                    </a:solidFill>
                  </a:tcPr>
                </a:tc>
                <a:tc>
                  <a:txBody>
                    <a:bodyPr/>
                    <a:lstStyle/>
                    <a:p>
                      <a:pPr algn="ctr"/>
                      <a:r>
                        <a:rPr sz="1100" b="0" i="0">
                          <a:solidFill>
                            <a:srgbClr val="000000"/>
                          </a:solidFill>
                          <a:latin typeface="Times New Roman"/>
                        </a:rPr>
                        <a:t>To build</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900000" y="5320000"/>
            <a:ext cx="10400000" cy="900000"/>
          </a:xfrm>
          <a:prstGeom prst="rect">
            <a:avLst/>
          </a:prstGeom>
          <a:noFill/>
        </p:spPr>
        <p:txBody>
          <a:bodyPr wrap="square">
            <a:spAutoFit/>
          </a:bodyPr>
          <a:lstStyle/>
          <a:p>
            <a:pPr algn="ctr"/>
            <a:r>
              <a:rPr sz="1350" b="0" i="1">
                <a:solidFill>
                  <a:srgbClr val="202020"/>
                </a:solidFill>
                <a:latin typeface="Times New Roman"/>
              </a:rPr>
              <a:t>Why exactly five: each owns a distinct responsibility, data shape and failure mode — transactional CRUD, third-party isolation behind one interface, the only LLM-dependent decision component, and pure event-driven dispatch. No service was added to hit a requirement count.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UML Use Case Diagram</a:t>
            </a:r>
          </a:p>
        </p:txBody>
      </p:sp>
      <p:pic>
        <p:nvPicPr>
          <p:cNvPr id="4" name="Picture 3" descr="fig_usecase.png"/>
          <p:cNvPicPr>
            <a:picLocks noChangeAspect="1"/>
          </p:cNvPicPr>
          <p:nvPr/>
        </p:nvPicPr>
        <p:blipFill>
          <a:blip r:embed="rId3"/>
          <a:stretch>
            <a:fillRect/>
          </a:stretch>
        </p:blipFill>
        <p:spPr>
          <a:xfrm>
            <a:off x="2019168" y="1200000"/>
            <a:ext cx="8161664" cy="5000000"/>
          </a:xfrm>
          <a:prstGeom prst="rect">
            <a:avLst/>
          </a:prstGeom>
        </p:spPr>
      </p:pic>
      <p:sp>
        <p:nvSpPr>
          <p:cNvPr id="5" name="TextBox 4"/>
          <p:cNvSpPr txBox="1"/>
          <p:nvPr/>
        </p:nvSpPr>
        <p:spPr>
          <a:xfrm>
            <a:off x="900000" y="6280000"/>
            <a:ext cx="10400000" cy="300000"/>
          </a:xfrm>
          <a:prstGeom prst="rect">
            <a:avLst/>
          </a:prstGeom>
          <a:noFill/>
        </p:spPr>
        <p:txBody>
          <a:bodyPr wrap="square">
            <a:spAutoFit/>
          </a:bodyPr>
          <a:lstStyle/>
          <a:p>
            <a:pPr algn="ctr"/>
            <a:r>
              <a:rPr sz="1400" b="0" i="1">
                <a:solidFill>
                  <a:srgbClr val="202020"/>
                </a:solidFill>
                <a:latin typeface="Times New Roman"/>
              </a:rPr>
              <a:t>Figure 3 — Use case diagram: one primary actor (Student) and three external system actors, with &lt;&lt;include&gt;&gt; and &lt;&lt;extend&gt;&gt; relationships on today's plan and the snooze loop.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System Architecture Diagram</a:t>
            </a:r>
          </a:p>
        </p:txBody>
      </p:sp>
      <p:pic>
        <p:nvPicPr>
          <p:cNvPr id="4" name="Picture 3" descr="fig_arch.png"/>
          <p:cNvPicPr>
            <a:picLocks noChangeAspect="1"/>
          </p:cNvPicPr>
          <p:nvPr/>
        </p:nvPicPr>
        <p:blipFill>
          <a:blip r:embed="rId3"/>
          <a:stretch>
            <a:fillRect/>
          </a:stretch>
        </p:blipFill>
        <p:spPr>
          <a:xfrm>
            <a:off x="896000" y="1332186"/>
            <a:ext cx="10400000" cy="4588039"/>
          </a:xfrm>
          <a:prstGeom prst="rect">
            <a:avLst/>
          </a:prstGeom>
        </p:spPr>
      </p:pic>
      <p:sp>
        <p:nvSpPr>
          <p:cNvPr id="5" name="TextBox 4"/>
          <p:cNvSpPr txBox="1"/>
          <p:nvPr/>
        </p:nvSpPr>
        <p:spPr>
          <a:xfrm>
            <a:off x="900000" y="6280000"/>
            <a:ext cx="10400000" cy="300000"/>
          </a:xfrm>
          <a:prstGeom prst="rect">
            <a:avLst/>
          </a:prstGeom>
          <a:noFill/>
        </p:spPr>
        <p:txBody>
          <a:bodyPr wrap="square">
            <a:spAutoFit/>
          </a:bodyPr>
          <a:lstStyle/>
          <a:p>
            <a:pPr algn="ctr"/>
            <a:r>
              <a:rPr sz="1400" b="0" i="1">
                <a:solidFill>
                  <a:srgbClr val="202020"/>
                </a:solidFill>
                <a:latin typeface="Times New Roman"/>
              </a:rPr>
              <a:t>Figure 4 — Layered SOA: client, edge/infrastructure, five business services (one database each) and external providers. Synchronous REST only — no message broker at this request volume.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75EEE3E0-7AE0-859F-4D1A-44B0C2BA799B}"/>
              </a:ext>
            </a:extLst>
          </p:cNvPr>
          <p:cNvSpPr txBox="1"/>
          <p:nvPr/>
        </p:nvSpPr>
        <p:spPr>
          <a:xfrm>
            <a:off x="4918841" y="437884"/>
            <a:ext cx="2079544" cy="369332"/>
          </a:xfrm>
          <a:prstGeom prst="rect">
            <a:avLst/>
          </a:prstGeom>
          <a:noFill/>
        </p:spPr>
        <p:txBody>
          <a:bodyPr wrap="none" rtlCol="0">
            <a:spAutoFit/>
          </a:bodyPr>
          <a:lstStyle/>
          <a:p>
            <a:r>
              <a:rPr lang="en-US" b="1" dirty="0"/>
              <a:t>IMPLEMENTATION</a:t>
            </a:r>
            <a:endParaRPr lang="en-IN" b="1" dirty="0"/>
          </a:p>
        </p:txBody>
      </p:sp>
      <p:pic>
        <p:nvPicPr>
          <p:cNvPr id="8" name="Picture 7">
            <a:extLst>
              <a:ext uri="{FF2B5EF4-FFF2-40B4-BE49-F238E27FC236}">
                <a16:creationId xmlns:a16="http://schemas.microsoft.com/office/drawing/2014/main" id="{F937BADB-8DD0-1A01-A076-005DEE2565EB}"/>
              </a:ext>
            </a:extLst>
          </p:cNvPr>
          <p:cNvPicPr>
            <a:picLocks noChangeAspect="1"/>
          </p:cNvPicPr>
          <p:nvPr/>
        </p:nvPicPr>
        <p:blipFill>
          <a:blip r:embed="rId3"/>
          <a:stretch>
            <a:fillRect/>
          </a:stretch>
        </p:blipFill>
        <p:spPr>
          <a:xfrm>
            <a:off x="144662" y="1993707"/>
            <a:ext cx="5813951" cy="3212071"/>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0C0938B9-768C-5735-E136-57843442B529}"/>
              </a:ext>
            </a:extLst>
          </p:cNvPr>
          <p:cNvPicPr>
            <a:picLocks noChangeAspect="1"/>
          </p:cNvPicPr>
          <p:nvPr/>
        </p:nvPicPr>
        <p:blipFill>
          <a:blip r:embed="rId4"/>
          <a:stretch>
            <a:fillRect/>
          </a:stretch>
        </p:blipFill>
        <p:spPr>
          <a:xfrm>
            <a:off x="6283100" y="1993707"/>
            <a:ext cx="5764238" cy="3212071"/>
          </a:xfrm>
          <a:prstGeom prst="rect">
            <a:avLst/>
          </a:prstGeom>
          <a:effectLst>
            <a:outerShdw blurRad="63500" sx="102000" sy="102000" algn="ctr" rotWithShape="0">
              <a:prstClr val="black">
                <a:alpha val="40000"/>
              </a:prst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FD318-E3D8-3005-7F1F-8F4204123F14}"/>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513F122E-5D16-D670-3E3A-64510AA012F5}"/>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847755D7-F7F2-BA04-D328-C1F42071142F}"/>
              </a:ext>
            </a:extLst>
          </p:cNvPr>
          <p:cNvSpPr txBox="1"/>
          <p:nvPr/>
        </p:nvSpPr>
        <p:spPr>
          <a:xfrm>
            <a:off x="4918841" y="437884"/>
            <a:ext cx="2079544" cy="369332"/>
          </a:xfrm>
          <a:prstGeom prst="rect">
            <a:avLst/>
          </a:prstGeom>
          <a:noFill/>
        </p:spPr>
        <p:txBody>
          <a:bodyPr wrap="none" rtlCol="0">
            <a:spAutoFit/>
          </a:bodyPr>
          <a:lstStyle/>
          <a:p>
            <a:r>
              <a:rPr lang="en-US" b="1" dirty="0"/>
              <a:t>IMPLEMENTATION</a:t>
            </a:r>
            <a:endParaRPr lang="en-IN" b="1" dirty="0"/>
          </a:p>
        </p:txBody>
      </p:sp>
      <p:pic>
        <p:nvPicPr>
          <p:cNvPr id="4" name="Picture 3">
            <a:extLst>
              <a:ext uri="{FF2B5EF4-FFF2-40B4-BE49-F238E27FC236}">
                <a16:creationId xmlns:a16="http://schemas.microsoft.com/office/drawing/2014/main" id="{5A2291DE-6038-31EF-60A2-221C1695B603}"/>
              </a:ext>
            </a:extLst>
          </p:cNvPr>
          <p:cNvPicPr>
            <a:picLocks noChangeAspect="1"/>
          </p:cNvPicPr>
          <p:nvPr/>
        </p:nvPicPr>
        <p:blipFill>
          <a:blip r:embed="rId3"/>
          <a:stretch>
            <a:fillRect/>
          </a:stretch>
        </p:blipFill>
        <p:spPr>
          <a:xfrm>
            <a:off x="2365698" y="1595119"/>
            <a:ext cx="6329407" cy="332343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861924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Academic Requirement Coverage</a:t>
            </a:r>
          </a:p>
        </p:txBody>
      </p:sp>
      <p:graphicFrame>
        <p:nvGraphicFramePr>
          <p:cNvPr id="4" name="Table 3"/>
          <p:cNvGraphicFramePr>
            <a:graphicFrameLocks noGrp="1"/>
          </p:cNvGraphicFramePr>
          <p:nvPr/>
        </p:nvGraphicFramePr>
        <p:xfrm>
          <a:off x="900000" y="1420000"/>
          <a:ext cx="10390000" cy="5180000"/>
        </p:xfrm>
        <a:graphic>
          <a:graphicData uri="http://schemas.openxmlformats.org/drawingml/2006/table">
            <a:tbl>
              <a:tblPr firstRow="1" bandRow="1">
                <a:tableStyleId>{5C22544A-7EE6-4342-B048-85BDC9FD1C3A}</a:tableStyleId>
              </a:tblPr>
              <a:tblGrid>
                <a:gridCol w="7000000">
                  <a:extLst>
                    <a:ext uri="{9D8B030D-6E8A-4147-A177-3AD203B41FA5}">
                      <a16:colId xmlns:a16="http://schemas.microsoft.com/office/drawing/2014/main" val="20000"/>
                    </a:ext>
                  </a:extLst>
                </a:gridCol>
                <a:gridCol w="3390000">
                  <a:extLst>
                    <a:ext uri="{9D8B030D-6E8A-4147-A177-3AD203B41FA5}">
                      <a16:colId xmlns:a16="http://schemas.microsoft.com/office/drawing/2014/main" val="20001"/>
                    </a:ext>
                  </a:extLst>
                </a:gridCol>
              </a:tblGrid>
              <a:tr h="370000">
                <a:tc>
                  <a:txBody>
                    <a:bodyPr/>
                    <a:lstStyle/>
                    <a:p>
                      <a:r>
                        <a:rPr sz="1150" b="1" i="0">
                          <a:solidFill>
                            <a:srgbClr val="000000"/>
                          </a:solidFill>
                          <a:latin typeface="Times New Roman"/>
                        </a:rPr>
                        <a:t>Academic requirement</a:t>
                      </a:r>
                    </a:p>
                  </a:txBody>
                  <a:tcPr marL="54864" marR="54864" marT="18288" marB="18288" anchor="ctr">
                    <a:solidFill>
                      <a:srgbClr val="FFFF00"/>
                    </a:solidFill>
                  </a:tcPr>
                </a:tc>
                <a:tc>
                  <a:txBody>
                    <a:bodyPr/>
                    <a:lstStyle/>
                    <a:p>
                      <a:pPr algn="ctr"/>
                      <a:r>
                        <a:rPr sz="1150" b="1" i="0">
                          <a:solidFill>
                            <a:srgbClr val="000000"/>
                          </a:solidFill>
                          <a:latin typeface="Times New Roman"/>
                        </a:rPr>
                        <a:t>Status</a:t>
                      </a:r>
                    </a:p>
                  </a:txBody>
                  <a:tcPr marL="54864" marR="54864" marT="18288" marB="18288" anchor="ctr">
                    <a:solidFill>
                      <a:srgbClr val="FFFF00"/>
                    </a:solidFill>
                  </a:tcPr>
                </a:tc>
                <a:extLst>
                  <a:ext uri="{0D108BD9-81ED-4DB2-BD59-A6C34878D82A}">
                    <a16:rowId xmlns:a16="http://schemas.microsoft.com/office/drawing/2014/main" val="10000"/>
                  </a:ext>
                </a:extLst>
              </a:tr>
              <a:tr h="370000">
                <a:tc>
                  <a:txBody>
                    <a:bodyPr/>
                    <a:lstStyle/>
                    <a:p>
                      <a:r>
                        <a:rPr sz="1100" b="0" i="0">
                          <a:solidFill>
                            <a:srgbClr val="000000"/>
                          </a:solidFill>
                          <a:latin typeface="Times New Roman"/>
                        </a:rPr>
                        <a:t>At least 3 microservices (5 delivered)</a:t>
                      </a:r>
                    </a:p>
                  </a:txBody>
                  <a:tcPr marL="54864" marR="54864" marT="18288" marB="18288" anchor="ctr">
                    <a:solidFill>
                      <a:srgbClr val="FFFFFF"/>
                    </a:solidFill>
                  </a:tcPr>
                </a:tc>
                <a:tc>
                  <a:txBody>
                    <a:bodyPr/>
                    <a:lstStyle/>
                    <a:p>
                      <a:pPr algn="ctr"/>
                      <a:r>
                        <a:rPr sz="1100" b="0" i="0">
                          <a:solidFill>
                            <a:srgbClr val="000000"/>
                          </a:solidFill>
                          <a:latin typeface="Times New Roman"/>
                        </a:rPr>
                        <a:t>Done</a:t>
                      </a:r>
                    </a:p>
                  </a:txBody>
                  <a:tcPr marL="54864" marR="54864" marT="18288" marB="18288" anchor="ctr">
                    <a:solidFill>
                      <a:srgbClr val="FFFFFF"/>
                    </a:solidFill>
                  </a:tcPr>
                </a:tc>
                <a:extLst>
                  <a:ext uri="{0D108BD9-81ED-4DB2-BD59-A6C34878D82A}">
                    <a16:rowId xmlns:a16="http://schemas.microsoft.com/office/drawing/2014/main" val="10001"/>
                  </a:ext>
                </a:extLst>
              </a:tr>
              <a:tr h="370000">
                <a:tc>
                  <a:txBody>
                    <a:bodyPr/>
                    <a:lstStyle/>
                    <a:p>
                      <a:r>
                        <a:rPr sz="1100" b="0" i="0">
                          <a:solidFill>
                            <a:srgbClr val="000000"/>
                          </a:solidFill>
                          <a:latin typeface="Times New Roman"/>
                        </a:rPr>
                        <a:t>JWT authentication (Auth Service)</a:t>
                      </a:r>
                    </a:p>
                  </a:txBody>
                  <a:tcPr marL="54864" marR="54864" marT="18288" marB="18288" anchor="ctr">
                    <a:solidFill>
                      <a:srgbClr val="FFFFFF"/>
                    </a:solidFill>
                  </a:tcPr>
                </a:tc>
                <a:tc>
                  <a:txBody>
                    <a:bodyPr/>
                    <a:lstStyle/>
                    <a:p>
                      <a:pPr algn="ctr"/>
                      <a:r>
                        <a:rPr sz="1100" b="0" i="0">
                          <a:solidFill>
                            <a:srgbClr val="000000"/>
                          </a:solidFill>
                          <a:latin typeface="Times New Roman"/>
                        </a:rPr>
                        <a:t>Done</a:t>
                      </a:r>
                    </a:p>
                  </a:txBody>
                  <a:tcPr marL="54864" marR="54864" marT="18288" marB="18288" anchor="ctr">
                    <a:solidFill>
                      <a:srgbClr val="FFFFFF"/>
                    </a:solidFill>
                  </a:tcPr>
                </a:tc>
                <a:extLst>
                  <a:ext uri="{0D108BD9-81ED-4DB2-BD59-A6C34878D82A}">
                    <a16:rowId xmlns:a16="http://schemas.microsoft.com/office/drawing/2014/main" val="10002"/>
                  </a:ext>
                </a:extLst>
              </a:tr>
              <a:tr h="370000">
                <a:tc>
                  <a:txBody>
                    <a:bodyPr/>
                    <a:lstStyle/>
                    <a:p>
                      <a:r>
                        <a:rPr sz="1100" b="0" i="0">
                          <a:solidFill>
                            <a:srgbClr val="000000"/>
                          </a:solidFill>
                          <a:latin typeface="Times New Roman"/>
                        </a:rPr>
                        <a:t>Role-based authorization (Auth Service)</a:t>
                      </a:r>
                    </a:p>
                  </a:txBody>
                  <a:tcPr marL="54864" marR="54864" marT="18288" marB="18288" anchor="ctr">
                    <a:solidFill>
                      <a:srgbClr val="FFFFFF"/>
                    </a:solidFill>
                  </a:tcPr>
                </a:tc>
                <a:tc>
                  <a:txBody>
                    <a:bodyPr/>
                    <a:lstStyle/>
                    <a:p>
                      <a:pPr algn="ctr"/>
                      <a:r>
                        <a:rPr sz="1100" b="0" i="0">
                          <a:solidFill>
                            <a:srgbClr val="000000"/>
                          </a:solidFill>
                          <a:latin typeface="Times New Roman"/>
                        </a:rPr>
                        <a:t>Done</a:t>
                      </a:r>
                    </a:p>
                  </a:txBody>
                  <a:tcPr marL="54864" marR="54864" marT="18288" marB="18288" anchor="ctr">
                    <a:solidFill>
                      <a:srgbClr val="FFFFFF"/>
                    </a:solidFill>
                  </a:tcPr>
                </a:tc>
                <a:extLst>
                  <a:ext uri="{0D108BD9-81ED-4DB2-BD59-A6C34878D82A}">
                    <a16:rowId xmlns:a16="http://schemas.microsoft.com/office/drawing/2014/main" val="10003"/>
                  </a:ext>
                </a:extLst>
              </a:tr>
              <a:tr h="370000">
                <a:tc>
                  <a:txBody>
                    <a:bodyPr/>
                    <a:lstStyle/>
                    <a:p>
                      <a:r>
                        <a:rPr sz="1100" b="0" i="0">
                          <a:solidFill>
                            <a:srgbClr val="000000"/>
                          </a:solidFill>
                          <a:latin typeface="Times New Roman"/>
                        </a:rPr>
                        <a:t>Architecture diagram</a:t>
                      </a:r>
                    </a:p>
                  </a:txBody>
                  <a:tcPr marL="54864" marR="54864" marT="18288" marB="18288" anchor="ctr">
                    <a:solidFill>
                      <a:srgbClr val="FFFFFF"/>
                    </a:solidFill>
                  </a:tcPr>
                </a:tc>
                <a:tc>
                  <a:txBody>
                    <a:bodyPr/>
                    <a:lstStyle/>
                    <a:p>
                      <a:pPr algn="ctr"/>
                      <a:r>
                        <a:rPr sz="1100" b="0" i="0">
                          <a:solidFill>
                            <a:srgbClr val="000000"/>
                          </a:solidFill>
                          <a:latin typeface="Times New Roman"/>
                        </a:rPr>
                        <a:t>Done — this deck</a:t>
                      </a:r>
                    </a:p>
                  </a:txBody>
                  <a:tcPr marL="54864" marR="54864" marT="18288" marB="18288" anchor="ctr">
                    <a:solidFill>
                      <a:srgbClr val="FFFFFF"/>
                    </a:solidFill>
                  </a:tcPr>
                </a:tc>
                <a:extLst>
                  <a:ext uri="{0D108BD9-81ED-4DB2-BD59-A6C34878D82A}">
                    <a16:rowId xmlns:a16="http://schemas.microsoft.com/office/drawing/2014/main" val="10004"/>
                  </a:ext>
                </a:extLst>
              </a:tr>
              <a:tr h="370000">
                <a:tc>
                  <a:txBody>
                    <a:bodyPr/>
                    <a:lstStyle/>
                    <a:p>
                      <a:r>
                        <a:rPr sz="1100" b="0" i="0">
                          <a:solidFill>
                            <a:srgbClr val="000000"/>
                          </a:solidFill>
                          <a:latin typeface="Times New Roman"/>
                        </a:rPr>
                        <a:t>Service contracts and REST endpoints documented</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5"/>
                  </a:ext>
                </a:extLst>
              </a:tr>
              <a:tr h="370000">
                <a:tc>
                  <a:txBody>
                    <a:bodyPr/>
                    <a:lstStyle/>
                    <a:p>
                      <a:r>
                        <a:rPr sz="1100" b="0" i="0">
                          <a:solidFill>
                            <a:srgbClr val="000000"/>
                          </a:solidFill>
                          <a:latin typeface="Times New Roman"/>
                        </a:rPr>
                        <a:t>CORS configuration</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6"/>
                  </a:ext>
                </a:extLst>
              </a:tr>
              <a:tr h="370000">
                <a:tc>
                  <a:txBody>
                    <a:bodyPr/>
                    <a:lstStyle/>
                    <a:p>
                      <a:r>
                        <a:rPr sz="1100" b="0" i="0">
                          <a:solidFill>
                            <a:srgbClr val="000000"/>
                          </a:solidFill>
                          <a:latin typeface="Times New Roman"/>
                        </a:rPr>
                        <a:t>Eureka service registration</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7"/>
                  </a:ext>
                </a:extLst>
              </a:tr>
              <a:tr h="370000">
                <a:tc>
                  <a:txBody>
                    <a:bodyPr/>
                    <a:lstStyle/>
                    <a:p>
                      <a:r>
                        <a:rPr sz="1100" b="0" i="0">
                          <a:solidFill>
                            <a:srgbClr val="000000"/>
                          </a:solidFill>
                          <a:latin typeface="Times New Roman"/>
                        </a:rPr>
                        <a:t>Spring Cloud Gateway routing</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8"/>
                  </a:ext>
                </a:extLst>
              </a:tr>
              <a:tr h="370000">
                <a:tc>
                  <a:txBody>
                    <a:bodyPr/>
                    <a:lstStyle/>
                    <a:p>
                      <a:r>
                        <a:rPr sz="1100" b="0" i="0">
                          <a:solidFill>
                            <a:srgbClr val="000000"/>
                          </a:solidFill>
                          <a:latin typeface="Times New Roman"/>
                        </a:rPr>
                        <a:t>Database per service</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9"/>
                  </a:ext>
                </a:extLst>
              </a:tr>
              <a:tr h="370000">
                <a:tc>
                  <a:txBody>
                    <a:bodyPr/>
                    <a:lstStyle/>
                    <a:p>
                      <a:r>
                        <a:rPr sz="1100" b="0" i="0">
                          <a:solidFill>
                            <a:srgbClr val="000000"/>
                          </a:solidFill>
                          <a:latin typeface="Times New Roman"/>
                        </a:rPr>
                        <a:t>Unit and integration tests</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10"/>
                  </a:ext>
                </a:extLst>
              </a:tr>
              <a:tr h="370000">
                <a:tc>
                  <a:txBody>
                    <a:bodyPr/>
                    <a:lstStyle/>
                    <a:p>
                      <a:r>
                        <a:rPr sz="1100" b="0" i="0">
                          <a:solidFill>
                            <a:srgbClr val="000000"/>
                          </a:solidFill>
                          <a:latin typeface="Times New Roman"/>
                        </a:rPr>
                        <a:t>Postman API testing</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11"/>
                  </a:ext>
                </a:extLst>
              </a:tr>
              <a:tr h="370000">
                <a:tc>
                  <a:txBody>
                    <a:bodyPr/>
                    <a:lstStyle/>
                    <a:p>
                      <a:r>
                        <a:rPr sz="1100" b="0" i="0">
                          <a:solidFill>
                            <a:srgbClr val="000000"/>
                          </a:solidFill>
                          <a:latin typeface="Times New Roman"/>
                        </a:rPr>
                        <a:t>GitHub Actions</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12"/>
                  </a:ext>
                </a:extLst>
              </a:tr>
              <a:tr h="370000">
                <a:tc>
                  <a:txBody>
                    <a:bodyPr/>
                    <a:lstStyle/>
                    <a:p>
                      <a:r>
                        <a:rPr sz="1100" b="0" i="0">
                          <a:solidFill>
                            <a:srgbClr val="000000"/>
                          </a:solidFill>
                          <a:latin typeface="Times New Roman"/>
                        </a:rPr>
                        <a:t>Jira user stories and sprint board</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1942</Words>
  <Application>Microsoft Office PowerPoint</Application>
  <PresentationFormat>Widescreen</PresentationFormat>
  <Paragraphs>264</Paragraphs>
  <Slides>19</Slides>
  <Notes>2</Notes>
  <HiddenSlides>0</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lahari pokuri</cp:lastModifiedBy>
  <cp:revision>4</cp:revision>
  <dcterms:created xsi:type="dcterms:W3CDTF">2026-08-08T06:33:56Z</dcterms:created>
  <dcterms:modified xsi:type="dcterms:W3CDTF">2026-09-26T08:52:33Z</dcterms:modified>
</cp:coreProperties>
</file>